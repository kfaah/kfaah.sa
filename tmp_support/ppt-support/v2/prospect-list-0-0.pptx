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4AF37"/>
          </a:solidFill>
          <a:ln w="12700">
            <a:solidFill>
              <a:srgbClr val="D4AF37"/>
            </a:solidFill>
            <a:prstDash val="solid"/>
          </a:ln>
        </p:spPr>
      </p:sp>
      <p:sp>
        <p:nvSpPr>
          <p:cNvPr id="3" name="Shape 1"/>
          <p:cNvSpPr/>
          <p:nvPr/>
        </p:nvSpPr>
        <p:spPr>
          <a:xfrm>
            <a:off x="0" y="6693408"/>
            <a:ext cx="12191695" cy="164592"/>
          </a:xfrm>
          <a:prstGeom prst="rect">
            <a:avLst/>
          </a:prstGeom>
          <a:solidFill>
            <a:srgbClr val="D4AF37"/>
          </a:solidFill>
          <a:ln w="12700">
            <a:solidFill>
              <a:srgbClr val="D4AF37"/>
            </a:solidFill>
            <a:prstDash val="solid"/>
          </a:ln>
        </p:spPr>
      </p:sp>
      <p:sp>
        <p:nvSpPr>
          <p:cNvPr id="4" name="Text 2"/>
          <p:cNvSpPr/>
          <p:nvPr/>
        </p:nvSpPr>
        <p:spPr>
          <a:xfrm>
            <a:off x="731520" y="1874520"/>
            <a:ext cx="10698480" cy="1005840"/>
          </a:xfrm>
          <a:prstGeom prst="rect">
            <a:avLst/>
          </a:prstGeom>
          <a:noFill/>
          <a:ln/>
        </p:spPr>
        <p:txBody>
          <a:bodyPr wrap="square" rtlCol="0" anchor="ctr"/>
          <a:lstStyle/>
          <a:p>
            <a:pPr rtl="1" algn="ctr" indent="0" marL="0">
              <a:buNone/>
            </a:pPr>
            <a:r>
              <a:rPr lang="en-US" sz="2800" b="1" dirty="0">
                <a:solidFill>
                  <a:srgbClr val="FFFFFF"/>
                </a:solidFill>
                <a:latin typeface="Calibri" pitchFamily="34" charset="0"/>
                <a:ea typeface="Calibri" pitchFamily="34" charset="-122"/>
                <a:cs typeface="Calibri" pitchFamily="34" charset="-120"/>
              </a:rPr>
              <a:t>قائمة 50 جهة سعودية حقيقية للاستقطاب</a:t>
            </a:r>
            <a:endParaRPr lang="en-US" sz="2800" dirty="0"/>
          </a:p>
        </p:txBody>
      </p:sp>
      <p:sp>
        <p:nvSpPr>
          <p:cNvPr id="5" name="Text 3"/>
          <p:cNvSpPr/>
          <p:nvPr/>
        </p:nvSpPr>
        <p:spPr>
          <a:xfrm>
            <a:off x="1097280" y="3017520"/>
            <a:ext cx="9966960" cy="640080"/>
          </a:xfrm>
          <a:prstGeom prst="rect">
            <a:avLst/>
          </a:prstGeom>
          <a:noFill/>
          <a:ln/>
        </p:spPr>
        <p:txBody>
          <a:bodyPr wrap="square" rtlCol="0" anchor="ctr"/>
          <a:lstStyle/>
          <a:p>
            <a:pPr rtl="1" algn="ctr" indent="0" marL="0">
              <a:buNone/>
            </a:pPr>
            <a:r>
              <a:rPr lang="en-US" sz="1500" dirty="0">
                <a:solidFill>
                  <a:srgbClr val="F5E6A8"/>
                </a:solidFill>
                <a:latin typeface="Calibri" pitchFamily="34" charset="0"/>
                <a:ea typeface="Calibri" pitchFamily="34" charset="-122"/>
                <a:cs typeface="Calibri" pitchFamily="34" charset="-120"/>
              </a:rPr>
              <a:t>مؤسسات وشركات داعمة موثقة - بيانات رسمية محدثة</a:t>
            </a:r>
            <a:endParaRPr lang="en-US" sz="1500" dirty="0"/>
          </a:p>
        </p:txBody>
      </p:sp>
      <p:sp>
        <p:nvSpPr>
          <p:cNvPr id="6" name="Text 4"/>
          <p:cNvSpPr/>
          <p:nvPr/>
        </p:nvSpPr>
        <p:spPr>
          <a:xfrm>
            <a:off x="1463040" y="3886200"/>
            <a:ext cx="9235440" cy="320040"/>
          </a:xfrm>
          <a:prstGeom prst="rect">
            <a:avLst/>
          </a:prstGeom>
          <a:noFill/>
          <a:ln/>
        </p:spPr>
        <p:txBody>
          <a:bodyPr wrap="square" rtlCol="0" anchor="ctr"/>
          <a:lstStyle/>
          <a:p>
            <a:pPr rtl="1" algn="ctr" indent="0" marL="0">
              <a:buNone/>
            </a:pPr>
            <a:r>
              <a:rPr lang="en-US" sz="1150" dirty="0">
                <a:solidFill>
                  <a:srgbClr val="94A3B8"/>
                </a:solidFill>
                <a:latin typeface="Calibri" pitchFamily="34" charset="0"/>
                <a:ea typeface="Calibri" pitchFamily="34" charset="-122"/>
                <a:cs typeface="Calibri" pitchFamily="34" charset="-120"/>
              </a:rPr>
              <a:t>عرض PowerPoint جاهز للمراجعة والتنفيذ</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D4AF37"/>
          </a:solidFill>
          <a:ln w="12700">
            <a:solidFill>
              <a:srgbClr val="D4AF37"/>
            </a:solidFill>
            <a:prstDash val="solid"/>
          </a:ln>
        </p:spPr>
      </p:sp>
      <p:sp>
        <p:nvSpPr>
          <p:cNvPr id="3" name="Shape 1"/>
          <p:cNvSpPr/>
          <p:nvPr/>
        </p:nvSpPr>
        <p:spPr>
          <a:xfrm>
            <a:off x="0" y="146304"/>
            <a:ext cx="12191695" cy="841248"/>
          </a:xfrm>
          <a:prstGeom prst="rect">
            <a:avLst/>
          </a:prstGeom>
          <a:solidFill>
            <a:srgbClr val="0F1E3D"/>
          </a:solidFill>
          <a:ln w="12700">
            <a:solidFill>
              <a:srgbClr val="0F1E3D"/>
            </a:solidFill>
            <a:prstDash val="solid"/>
          </a:ln>
        </p:spPr>
      </p:sp>
      <p:sp>
        <p:nvSpPr>
          <p:cNvPr id="4" name="Text 2"/>
          <p:cNvSpPr/>
          <p:nvPr/>
        </p:nvSpPr>
        <p:spPr>
          <a:xfrm>
            <a:off x="502920" y="201168"/>
            <a:ext cx="11064240" cy="384048"/>
          </a:xfrm>
          <a:prstGeom prst="rect">
            <a:avLst/>
          </a:prstGeom>
          <a:noFill/>
          <a:ln/>
        </p:spPr>
        <p:txBody>
          <a:bodyPr wrap="square" rtlCol="0" anchor="ctr"/>
          <a:lstStyle/>
          <a:p>
            <a:pPr rtl="1" algn="r" indent="0" marL="0">
              <a:buNone/>
            </a:pPr>
            <a:r>
              <a:rPr lang="en-US" sz="2200" b="1" dirty="0">
                <a:solidFill>
                  <a:srgbClr val="FFFFFF"/>
                </a:solidFill>
                <a:latin typeface="Calibri" pitchFamily="34" charset="0"/>
                <a:ea typeface="Calibri" pitchFamily="34" charset="-122"/>
                <a:cs typeface="Calibri" pitchFamily="34" charset="-120"/>
              </a:rPr>
              <a:t>قائمة 50 جهة سعودية حقيقية للاستقطاب</a:t>
            </a:r>
            <a:endParaRPr lang="en-US" sz="2200" dirty="0"/>
          </a:p>
        </p:txBody>
      </p:sp>
      <p:sp>
        <p:nvSpPr>
          <p:cNvPr id="5" name="Text 3"/>
          <p:cNvSpPr/>
          <p:nvPr/>
        </p:nvSpPr>
        <p:spPr>
          <a:xfrm>
            <a:off x="502920" y="603504"/>
            <a:ext cx="11064240" cy="164592"/>
          </a:xfrm>
          <a:prstGeom prst="rect">
            <a:avLst/>
          </a:prstGeom>
          <a:noFill/>
          <a:ln/>
        </p:spPr>
        <p:txBody>
          <a:bodyPr wrap="square" rtlCol="0" anchor="ctr"/>
          <a:lstStyle/>
          <a:p>
            <a:pPr rtl="1" algn="r" indent="0" marL="0">
              <a:buNone/>
            </a:pPr>
            <a:r>
              <a:rPr lang="en-US" sz="1000" dirty="0">
                <a:solidFill>
                  <a:srgbClr val="F5E6A8"/>
                </a:solidFill>
                <a:latin typeface="Calibri" pitchFamily="34" charset="0"/>
                <a:ea typeface="Calibri" pitchFamily="34" charset="-122"/>
                <a:cs typeface="Calibri" pitchFamily="34" charset="-120"/>
              </a:rPr>
              <a:t>المحتوى الجاهز</a:t>
            </a:r>
            <a:endParaRPr lang="en-US" sz="1000" dirty="0"/>
          </a:p>
        </p:txBody>
      </p:sp>
      <p:sp>
        <p:nvSpPr>
          <p:cNvPr id="6" name="Shape 4"/>
          <p:cNvSpPr/>
          <p:nvPr/>
        </p:nvSpPr>
        <p:spPr>
          <a:xfrm>
            <a:off x="502920" y="1234440"/>
            <a:ext cx="11155680" cy="5212080"/>
          </a:xfrm>
          <a:prstGeom prst="roundRect">
            <a:avLst>
              <a:gd name="adj" fmla="val 1053"/>
            </a:avLst>
          </a:prstGeom>
          <a:solidFill>
            <a:srgbClr val="FFFFFF"/>
          </a:solidFill>
          <a:ln w="7620">
            <a:solidFill>
              <a:srgbClr val="CBD5E1"/>
            </a:solidFill>
            <a:prstDash val="solid"/>
          </a:ln>
        </p:spPr>
      </p:sp>
      <p:sp>
        <p:nvSpPr>
          <p:cNvPr id="7" name="Text 5"/>
          <p:cNvSpPr/>
          <p:nvPr/>
        </p:nvSpPr>
        <p:spPr>
          <a:xfrm>
            <a:off x="749808" y="1536192"/>
            <a:ext cx="10652760" cy="1005840"/>
          </a:xfrm>
          <a:prstGeom prst="rect">
            <a:avLst/>
          </a:prstGeom>
          <a:noFill/>
          <a:ln/>
        </p:spPr>
        <p:txBody>
          <a:bodyPr wrap="square" rtlCol="0" anchor="t"/>
          <a:lstStyle/>
          <a:p>
            <a:pPr rtl="1" algn="r" indent="0" marL="0">
              <a:buNone/>
            </a:pPr>
            <a:r>
              <a:rPr lang="en-US" sz="1300" dirty="0">
                <a:solidFill>
                  <a:srgbClr val="0F1E3D"/>
                </a:solidFill>
                <a:latin typeface="Calibri" pitchFamily="34" charset="0"/>
                <a:ea typeface="Calibri" pitchFamily="34" charset="-122"/>
                <a:cs typeface="Calibri" pitchFamily="34" charset="-120"/>
              </a:rPr>
              <a:t>هذه قائمة موثقة بـ 50 جهة سعودية رسمية تشمل المؤسسات المانحة الكبرى، البنوك، شركات الاتصالات والطاقة والتأمين، والقطاع الخاص. كل جهة لها سجل موثق في دعم العمل الخيري والمسؤولية المجتمعية. الأرقام الموحدة (920) تخدم العملاء، وتتطلب التحويل لإدارات المسؤولية الاجتماعية أو الشراكات.</a:t>
            </a:r>
            <a:endParaRPr lang="en-US" sz="1300" dirty="0"/>
          </a:p>
        </p:txBody>
      </p:sp>
      <p:sp>
        <p:nvSpPr>
          <p:cNvPr id="8" name="Text 6"/>
          <p:cNvSpPr/>
          <p:nvPr/>
        </p:nvSpPr>
        <p:spPr>
          <a:xfrm>
            <a:off x="896112" y="2697480"/>
            <a:ext cx="10287000" cy="3429000"/>
          </a:xfrm>
          <a:prstGeom prst="rect">
            <a:avLst/>
          </a:prstGeom>
          <a:noFill/>
          <a:ln/>
        </p:spPr>
        <p:txBody>
          <a:bodyPr wrap="square" rtlCol="0" anchor="t"/>
          <a:lstStyle/>
          <a:p>
            <a:pPr algn="r" marL="228600" indent="-228600">
              <a:buSzPct val="100000"/>
              <a:buChar char="•"/>
            </a:pPr>
            <a:r>
              <a:rPr lang="en-US" sz="1500" dirty="0">
                <a:solidFill>
                  <a:srgbClr val="0F1E3D"/>
                </a:solidFill>
                <a:latin typeface="Calibri" pitchFamily="34" charset="0"/>
                <a:ea typeface="Calibri" pitchFamily="34" charset="-122"/>
                <a:cs typeface="Calibri" pitchFamily="34" charset="-120"/>
              </a:rPr>
              <a:t>تواصل عبر الإدارة المختصة (المسؤولية الاجتماعية / الشراكات / المنح) — لا تتواصل عبر القنوات العامة.</a:t>
            </a:r>
            <a:pPr algn="r" marL="228600" indent="-228600">
              <a:buSzPct val="100000"/>
              <a:buChar char="•"/>
            </a:pPr>
            <a:r>
              <a:rPr lang="en-US" sz="1500" dirty="0">
                <a:solidFill>
                  <a:srgbClr val="0F1E3D"/>
                </a:solidFill>
                <a:latin typeface="Calibri" pitchFamily="34" charset="0"/>
                <a:ea typeface="Calibri" pitchFamily="34" charset="-122"/>
                <a:cs typeface="Calibri" pitchFamily="34" charset="-120"/>
              </a:rPr>
              <a:t>بعض الجهات (الراجحي الإنسانية، الملك خالد، المراعي) تفتح بوابات منح بمواعيد سنوية محددة — راجع مواقعها الرسمية قبل التقديم.</a:t>
            </a:r>
            <a:pPr algn="r" marL="228600" indent="-228600">
              <a:buSzPct val="100000"/>
              <a:buChar char="•"/>
            </a:pPr>
            <a:r>
              <a:rPr lang="en-US" sz="1500" dirty="0">
                <a:solidFill>
                  <a:srgbClr val="0F1E3D"/>
                </a:solidFill>
                <a:latin typeface="Calibri" pitchFamily="34" charset="0"/>
                <a:ea typeface="Calibri" pitchFamily="34" charset="-122"/>
                <a:cs typeface="Calibri" pitchFamily="34" charset="-120"/>
              </a:rPr>
              <a:t>استخدم البريد المؤسسي الرسمي للجهة وقدم ملف تعريفي معتمد + المشروع المقترح + الأثر المتوقع.</a:t>
            </a:r>
            <a:pPr algn="r" marL="228600" indent="-228600">
              <a:buSzPct val="100000"/>
              <a:buChar char="•"/>
            </a:pPr>
            <a:r>
              <a:rPr lang="en-US" sz="1500" dirty="0">
                <a:solidFill>
                  <a:srgbClr val="0F1E3D"/>
                </a:solidFill>
                <a:latin typeface="Calibri" pitchFamily="34" charset="0"/>
                <a:ea typeface="Calibri" pitchFamily="34" charset="-122"/>
                <a:cs typeface="Calibri" pitchFamily="34" charset="-120"/>
              </a:rPr>
              <a:t>احفظ نتيجة التواصل الأول في عمود "ملاحظات" لمتابعة الفريق.</a:t>
            </a:r>
            <a:endParaRPr lang="en-US" sz="1500" dirty="0"/>
          </a:p>
        </p:txBody>
      </p:sp>
      <p:sp>
        <p:nvSpPr>
          <p:cNvPr id="9" name="Shape 7"/>
          <p:cNvSpPr/>
          <p:nvPr/>
        </p:nvSpPr>
        <p:spPr>
          <a:xfrm>
            <a:off x="0" y="6601968"/>
            <a:ext cx="12191695" cy="256032"/>
          </a:xfrm>
          <a:prstGeom prst="rect">
            <a:avLst/>
          </a:prstGeom>
          <a:solidFill>
            <a:srgbClr val="081229"/>
          </a:solidFill>
          <a:ln w="12700">
            <a:solidFill>
              <a:srgbClr val="081229"/>
            </a:solidFill>
            <a:prstDash val="solid"/>
          </a:ln>
        </p:spPr>
      </p:sp>
      <p:sp>
        <p:nvSpPr>
          <p:cNvPr id="10" name="Text 8"/>
          <p:cNvSpPr/>
          <p:nvPr/>
        </p:nvSpPr>
        <p:spPr>
          <a:xfrm>
            <a:off x="457200" y="6620256"/>
            <a:ext cx="11155680" cy="146304"/>
          </a:xfrm>
          <a:prstGeom prst="rect">
            <a:avLst/>
          </a:prstGeom>
          <a:noFill/>
          <a:ln/>
        </p:spPr>
        <p:txBody>
          <a:bodyPr wrap="square" rtlCol="0" anchor="ctr"/>
          <a:lstStyle/>
          <a:p>
            <a:pPr rtl="1" algn="r" indent="0" marL="0">
              <a:buNone/>
            </a:pPr>
            <a:r>
              <a:rPr lang="en-US" sz="900" dirty="0">
                <a:solidFill>
                  <a:srgbClr val="94A3B8"/>
                </a:solidFill>
                <a:latin typeface="Calibri" pitchFamily="34" charset="0"/>
                <a:ea typeface="Calibri" pitchFamily="34" charset="-122"/>
                <a:cs typeface="Calibri" pitchFamily="34" charset="-120"/>
              </a:rPr>
              <a:t>مادة داعمة تنفيذية جاهزة</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D4AF37"/>
          </a:solidFill>
          <a:ln w="12700">
            <a:solidFill>
              <a:srgbClr val="D4AF37"/>
            </a:solidFill>
            <a:prstDash val="solid"/>
          </a:ln>
        </p:spPr>
      </p:sp>
      <p:sp>
        <p:nvSpPr>
          <p:cNvPr id="3" name="Shape 1"/>
          <p:cNvSpPr/>
          <p:nvPr/>
        </p:nvSpPr>
        <p:spPr>
          <a:xfrm>
            <a:off x="0" y="146304"/>
            <a:ext cx="12191695" cy="841248"/>
          </a:xfrm>
          <a:prstGeom prst="rect">
            <a:avLst/>
          </a:prstGeom>
          <a:solidFill>
            <a:srgbClr val="0F1E3D"/>
          </a:solidFill>
          <a:ln w="12700">
            <a:solidFill>
              <a:srgbClr val="0F1E3D"/>
            </a:solidFill>
            <a:prstDash val="solid"/>
          </a:ln>
        </p:spPr>
      </p:sp>
      <p:sp>
        <p:nvSpPr>
          <p:cNvPr id="4" name="Text 2"/>
          <p:cNvSpPr/>
          <p:nvPr/>
        </p:nvSpPr>
        <p:spPr>
          <a:xfrm>
            <a:off x="502920" y="201168"/>
            <a:ext cx="11064240" cy="384048"/>
          </a:xfrm>
          <a:prstGeom prst="rect">
            <a:avLst/>
          </a:prstGeom>
          <a:noFill/>
          <a:ln/>
        </p:spPr>
        <p:txBody>
          <a:bodyPr wrap="square" rtlCol="0" anchor="ctr"/>
          <a:lstStyle/>
          <a:p>
            <a:pPr rtl="1" algn="r" indent="0" marL="0">
              <a:buNone/>
            </a:pPr>
            <a:r>
              <a:rPr lang="en-US" sz="2200" b="1" dirty="0">
                <a:solidFill>
                  <a:srgbClr val="FFFFFF"/>
                </a:solidFill>
                <a:latin typeface="Calibri" pitchFamily="34" charset="0"/>
                <a:ea typeface="Calibri" pitchFamily="34" charset="-122"/>
                <a:cs typeface="Calibri" pitchFamily="34" charset="-120"/>
              </a:rPr>
              <a:t>قائمة 50 جهة سعودية حقيقية للاستقطاب</a:t>
            </a:r>
            <a:endParaRPr lang="en-US" sz="2200" dirty="0"/>
          </a:p>
        </p:txBody>
      </p:sp>
      <p:sp>
        <p:nvSpPr>
          <p:cNvPr id="5" name="Text 3"/>
          <p:cNvSpPr/>
          <p:nvPr/>
        </p:nvSpPr>
        <p:spPr>
          <a:xfrm>
            <a:off x="502920" y="603504"/>
            <a:ext cx="11064240" cy="164592"/>
          </a:xfrm>
          <a:prstGeom prst="rect">
            <a:avLst/>
          </a:prstGeom>
          <a:noFill/>
          <a:ln/>
        </p:spPr>
        <p:txBody>
          <a:bodyPr wrap="square" rtlCol="0" anchor="ctr"/>
          <a:lstStyle/>
          <a:p>
            <a:pPr rtl="1" algn="r" indent="0" marL="0">
              <a:buNone/>
            </a:pPr>
            <a:r>
              <a:rPr lang="en-US" sz="1000" dirty="0">
                <a:solidFill>
                  <a:srgbClr val="F5E6A8"/>
                </a:solidFill>
                <a:latin typeface="Calibri" pitchFamily="34" charset="0"/>
                <a:ea typeface="Calibri" pitchFamily="34" charset="-122"/>
                <a:cs typeface="Calibri" pitchFamily="34" charset="-120"/>
              </a:rPr>
              <a:t>50 جهة سعودية موثقة - مرتبة حسب القطاع</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84048" y="1225296"/>
          <a:ext cx="11430000" cy="914400"/>
        </p:xfrm>
        <a:graphic>
          <a:graphicData uri="http://schemas.openxmlformats.org/drawingml/2006/table">
            <a:tbl>
              <a:tblPr/>
              <a:tblGrid>
                <a:gridCol w="1143000"/>
                <a:gridCol w="1143000"/>
                <a:gridCol w="1143000"/>
                <a:gridCol w="1143000"/>
                <a:gridCol w="1143000"/>
                <a:gridCol w="1143000"/>
                <a:gridCol w="1143000"/>
                <a:gridCol w="1143000"/>
                <a:gridCol w="1143000"/>
                <a:gridCol w="1143000"/>
              </a:tblGrid>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ملاحظات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نوع </a:t>
                      </a:r>
                      <a:pPr indent="0" marL="0">
                        <a:buNone/>
                      </a:pPr>
                      <a:r>
                        <a:rPr lang="en-US" sz="950" dirty="0">
                          <a:solidFill>
                            <a:srgbClr val="0F1E3D"/>
                          </a:solidFill>
                          <a:latin typeface="Calibri" pitchFamily="34" charset="0"/>
                          <a:ea typeface="Calibri" pitchFamily="34" charset="-122"/>
                          <a:cs typeface="Calibri" pitchFamily="34" charset="-120"/>
                        </a:rPr>
                        <a:t>الدعم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مجالات </a:t>
                      </a:r>
                      <a:pPr indent="0" marL="0">
                        <a:buNone/>
                      </a:pPr>
                      <a:r>
                        <a:rPr lang="en-US" sz="950" dirty="0">
                          <a:solidFill>
                            <a:srgbClr val="0F1E3D"/>
                          </a:solidFill>
                          <a:latin typeface="Calibri" pitchFamily="34" charset="0"/>
                          <a:ea typeface="Calibri" pitchFamily="34" charset="-122"/>
                          <a:cs typeface="Calibri" pitchFamily="34" charset="-120"/>
                        </a:rPr>
                        <a:t>الاهتمام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البريد </a:t>
                      </a:r>
                      <a:pPr indent="0" marL="0">
                        <a:buNone/>
                      </a:pPr>
                      <a:r>
                        <a:rPr lang="en-US" sz="950" dirty="0">
                          <a:solidFill>
                            <a:srgbClr val="0F1E3D"/>
                          </a:solidFill>
                          <a:latin typeface="Calibri" pitchFamily="34" charset="0"/>
                          <a:ea typeface="Calibri" pitchFamily="34" charset="-122"/>
                          <a:cs typeface="Calibri" pitchFamily="34" charset="-120"/>
                        </a:rPr>
                        <a:t>الرسمي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رقم </a:t>
                      </a:r>
                      <a:pPr indent="0" marL="0">
                        <a:buNone/>
                      </a:pPr>
                      <a:r>
                        <a:rPr lang="en-US" sz="950" dirty="0">
                          <a:solidFill>
                            <a:srgbClr val="0F1E3D"/>
                          </a:solidFill>
                          <a:latin typeface="Calibri" pitchFamily="34" charset="0"/>
                          <a:ea typeface="Calibri" pitchFamily="34" charset="-122"/>
                          <a:cs typeface="Calibri" pitchFamily="34" charset="-120"/>
                        </a:rPr>
                        <a:t>الموحد</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جهة </a:t>
                      </a:r>
                      <a:pPr indent="0" marL="0">
                        <a:buNone/>
                      </a:pPr>
                      <a:r>
                        <a:rPr lang="en-US" sz="950" dirty="0">
                          <a:solidFill>
                            <a:srgbClr val="0F1E3D"/>
                          </a:solidFill>
                          <a:latin typeface="Calibri" pitchFamily="34" charset="0"/>
                          <a:ea typeface="Calibri" pitchFamily="34" charset="-122"/>
                          <a:cs typeface="Calibri" pitchFamily="34" charset="-120"/>
                        </a:rPr>
                        <a:t>الاتصال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المدينة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القطاع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اسم </a:t>
                      </a:r>
                      <a:pPr indent="0" marL="0">
                        <a:buNone/>
                      </a:pPr>
                      <a:r>
                        <a:rPr lang="en-US" sz="950" dirty="0">
                          <a:solidFill>
                            <a:srgbClr val="0F1E3D"/>
                          </a:solidFill>
                          <a:latin typeface="Calibri" pitchFamily="34" charset="0"/>
                          <a:ea typeface="Calibri" pitchFamily="34" charset="-122"/>
                          <a:cs typeface="Calibri" pitchFamily="34" charset="-120"/>
                        </a:rPr>
                        <a:t>الجهة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ينفذ </a:t>
                      </a:r>
                      <a:pPr indent="0" marL="0">
                        <a:buNone/>
                      </a:pPr>
                      <a:r>
                        <a:rPr lang="en-US" sz="950" dirty="0">
                          <a:solidFill>
                            <a:srgbClr val="0F1E3D"/>
                          </a:solidFill>
                          <a:latin typeface="Calibri" pitchFamily="34" charset="0"/>
                          <a:ea typeface="Calibri" pitchFamily="34" charset="-122"/>
                          <a:cs typeface="Calibri" pitchFamily="34" charset="-120"/>
                        </a:rPr>
                        <a:t>المنح </a:t>
                      </a:r>
                      <a:pPr indent="0" marL="0">
                        <a:buNone/>
                      </a:pPr>
                      <a:r>
                        <a:rPr lang="en-US" sz="950" dirty="0">
                          <a:solidFill>
                            <a:srgbClr val="0F1E3D"/>
                          </a:solidFill>
                          <a:latin typeface="Calibri" pitchFamily="34" charset="0"/>
                          <a:ea typeface="Calibri" pitchFamily="34" charset="-122"/>
                          <a:cs typeface="Calibri" pitchFamily="34" charset="-120"/>
                        </a:rPr>
                        <a:t>وفق </a:t>
                      </a:r>
                      <a:pPr indent="0" marL="0">
                        <a:buNone/>
                      </a:pPr>
                      <a:r>
                        <a:rPr lang="en-US" sz="950" dirty="0">
                          <a:solidFill>
                            <a:srgbClr val="0F1E3D"/>
                          </a:solidFill>
                          <a:latin typeface="Calibri" pitchFamily="34" charset="0"/>
                          <a:ea typeface="Calibri" pitchFamily="34" charset="-122"/>
                          <a:cs typeface="Calibri" pitchFamily="34" charset="-120"/>
                        </a:rPr>
                        <a:t>أولويات </a:t>
                      </a:r>
                      <a:pPr indent="0" marL="0">
                        <a:buNone/>
                      </a:pPr>
                      <a:r>
                        <a:rPr lang="en-US" sz="950" dirty="0">
                          <a:solidFill>
                            <a:srgbClr val="0F1E3D"/>
                          </a:solidFill>
                          <a:latin typeface="Calibri" pitchFamily="34" charset="0"/>
                          <a:ea typeface="Calibri" pitchFamily="34" charset="-122"/>
                          <a:cs typeface="Calibri" pitchFamily="34" charset="-120"/>
                        </a:rPr>
                        <a:t>محددة </a:t>
                      </a:r>
                      <a:pPr indent="0" marL="0">
                        <a:buNone/>
                      </a:pPr>
                      <a:r>
                        <a:rPr lang="en-US" sz="950" dirty="0">
                          <a:solidFill>
                            <a:srgbClr val="0F1E3D"/>
                          </a:solidFill>
                          <a:latin typeface="Calibri" pitchFamily="34" charset="0"/>
                          <a:ea typeface="Calibri" pitchFamily="34" charset="-122"/>
                          <a:cs typeface="Calibri" pitchFamily="34" charset="-120"/>
                        </a:rPr>
                        <a:t>سنوياً</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كبرى </a:t>
                      </a:r>
                      <a:pPr indent="0" marL="0">
                        <a:buNone/>
                      </a:pPr>
                      <a:r>
                        <a:rPr lang="en-US" sz="950" dirty="0">
                          <a:solidFill>
                            <a:srgbClr val="0F1E3D"/>
                          </a:solidFill>
                          <a:latin typeface="Calibri" pitchFamily="34" charset="0"/>
                          <a:ea typeface="Calibri" pitchFamily="34" charset="-122"/>
                          <a:cs typeface="Calibri" pitchFamily="34" charset="-120"/>
                        </a:rPr>
                        <a:t>(مليون+ </a:t>
                      </a:r>
                      <a:pPr indent="0" marL="0">
                        <a:buNone/>
                      </a:pPr>
                      <a:r>
                        <a:rPr lang="en-US" sz="950" dirty="0">
                          <a:solidFill>
                            <a:srgbClr val="0F1E3D"/>
                          </a:solidFill>
                          <a:latin typeface="Calibri" pitchFamily="34" charset="0"/>
                          <a:ea typeface="Calibri" pitchFamily="34" charset="-122"/>
                          <a:cs typeface="Calibri" pitchFamily="34" charset="-120"/>
                        </a:rPr>
                        <a:t>ر.س)</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تمكين </a:t>
                      </a:r>
                      <a:pPr indent="0" marL="0">
                        <a:buNone/>
                      </a:pPr>
                      <a:r>
                        <a:rPr lang="en-US" sz="950" dirty="0">
                          <a:solidFill>
                            <a:srgbClr val="0F1E3D"/>
                          </a:solidFill>
                          <a:latin typeface="Calibri" pitchFamily="34" charset="0"/>
                          <a:ea typeface="Calibri" pitchFamily="34" charset="-122"/>
                          <a:cs typeface="Calibri" pitchFamily="34" charset="-120"/>
                        </a:rPr>
                        <a:t>الشباب، </a:t>
                      </a:r>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الصحة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info@alrajhihum.org</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920033455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بوابة </a:t>
                      </a:r>
                      <a:pPr indent="0" marL="0">
                        <a:buNone/>
                      </a:pPr>
                      <a:r>
                        <a:rPr lang="en-US" sz="950" dirty="0">
                          <a:solidFill>
                            <a:srgbClr val="0F1E3D"/>
                          </a:solidFill>
                          <a:latin typeface="Calibri" pitchFamily="34" charset="0"/>
                          <a:ea typeface="Calibri" pitchFamily="34" charset="-122"/>
                          <a:cs typeface="Calibri" pitchFamily="34" charset="-120"/>
                        </a:rPr>
                        <a:t>نماء </a:t>
                      </a:r>
                      <a:pPr indent="0" marL="0">
                        <a:buNone/>
                      </a:pPr>
                      <a:r>
                        <a:rPr lang="en-US" sz="950" dirty="0">
                          <a:solidFill>
                            <a:srgbClr val="0F1E3D"/>
                          </a:solidFill>
                          <a:latin typeface="Calibri" pitchFamily="34" charset="0"/>
                          <a:ea typeface="Calibri" pitchFamily="34" charset="-122"/>
                          <a:cs typeface="Calibri" pitchFamily="34" charset="-120"/>
                        </a:rPr>
                        <a:t>(طلبات </a:t>
                      </a:r>
                      <a:pPr indent="0" marL="0">
                        <a:buNone/>
                      </a:pPr>
                      <a:r>
                        <a:rPr lang="en-US" sz="950" dirty="0">
                          <a:solidFill>
                            <a:srgbClr val="0F1E3D"/>
                          </a:solidFill>
                          <a:latin typeface="Calibri" pitchFamily="34" charset="0"/>
                          <a:ea typeface="Calibri" pitchFamily="34" charset="-122"/>
                          <a:cs typeface="Calibri" pitchFamily="34" charset="-120"/>
                        </a:rPr>
                        <a:t>المنح)</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مانحة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الراجحي </a:t>
                      </a:r>
                      <a:pPr indent="0" marL="0">
                        <a:buNone/>
                      </a:pPr>
                      <a:r>
                        <a:rPr lang="en-US" sz="950" dirty="0">
                          <a:solidFill>
                            <a:srgbClr val="0F1E3D"/>
                          </a:solidFill>
                          <a:latin typeface="Calibri" pitchFamily="34" charset="0"/>
                          <a:ea typeface="Calibri" pitchFamily="34" charset="-122"/>
                          <a:cs typeface="Calibri" pitchFamily="34" charset="-120"/>
                        </a:rPr>
                        <a:t>الإنسانية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 </a:t>
                      </a:r>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المؤسسات </a:t>
                      </a:r>
                      <a:pPr indent="0" marL="0">
                        <a:buNone/>
                      </a:pPr>
                      <a:r>
                        <a:rPr lang="en-US" sz="950" dirty="0">
                          <a:solidFill>
                            <a:srgbClr val="0F1E3D"/>
                          </a:solidFill>
                          <a:latin typeface="Calibri" pitchFamily="34" charset="0"/>
                          <a:ea typeface="Calibri" pitchFamily="34" charset="-122"/>
                          <a:cs typeface="Calibri" pitchFamily="34" charset="-120"/>
                        </a:rPr>
                        <a:t>الوقفية </a:t>
                      </a:r>
                      <a:pPr indent="0" marL="0">
                        <a:buNone/>
                      </a:pPr>
                      <a:r>
                        <a:rPr lang="en-US" sz="950" dirty="0">
                          <a:solidFill>
                            <a:srgbClr val="0F1E3D"/>
                          </a:solidFill>
                          <a:latin typeface="Calibri" pitchFamily="34" charset="0"/>
                          <a:ea typeface="Calibri" pitchFamily="34" charset="-122"/>
                          <a:cs typeface="Calibri" pitchFamily="34" charset="-120"/>
                        </a:rPr>
                        <a:t>بالمملكة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كبرى </a:t>
                      </a:r>
                      <a:pPr indent="0" marL="0">
                        <a:buNone/>
                      </a:pPr>
                      <a:r>
                        <a:rPr lang="en-US" sz="950" dirty="0">
                          <a:solidFill>
                            <a:srgbClr val="0F1E3D"/>
                          </a:solidFill>
                          <a:latin typeface="Calibri" pitchFamily="34" charset="0"/>
                          <a:ea typeface="Calibri" pitchFamily="34" charset="-122"/>
                          <a:cs typeface="Calibri" pitchFamily="34" charset="-120"/>
                        </a:rPr>
                        <a:t>(500 </a:t>
                      </a:r>
                      <a:pPr indent="0" marL="0">
                        <a:buNone/>
                      </a:pPr>
                      <a:r>
                        <a:rPr lang="en-US" sz="950" dirty="0">
                          <a:solidFill>
                            <a:srgbClr val="0F1E3D"/>
                          </a:solidFill>
                          <a:latin typeface="Calibri" pitchFamily="34" charset="0"/>
                          <a:ea typeface="Calibri" pitchFamily="34" charset="-122"/>
                          <a:cs typeface="Calibri" pitchFamily="34" charset="-120"/>
                        </a:rPr>
                        <a:t>ألف+)</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الاحتياجات </a:t>
                      </a:r>
                      <a:pPr indent="0" marL="0">
                        <a:buNone/>
                      </a:pPr>
                      <a:r>
                        <a:rPr lang="en-US" sz="950" dirty="0">
                          <a:solidFill>
                            <a:srgbClr val="0F1E3D"/>
                          </a:solidFill>
                          <a:latin typeface="Calibri" pitchFamily="34" charset="0"/>
                          <a:ea typeface="Calibri" pitchFamily="34" charset="-122"/>
                          <a:cs typeface="Calibri" pitchFamily="34" charset="-120"/>
                        </a:rPr>
                        <a:t>الأساسية، </a:t>
                      </a:r>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التنمية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info@rf.org.sa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011-2178000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مانحة </a:t>
                      </a:r>
                      <a:pPr indent="0" marL="0">
                        <a:buNone/>
                      </a:pPr>
                      <a:r>
                        <a:rPr lang="en-US" sz="950" dirty="0">
                          <a:solidFill>
                            <a:srgbClr val="0F1E3D"/>
                          </a:solidFill>
                          <a:latin typeface="Calibri" pitchFamily="34" charset="0"/>
                          <a:ea typeface="Calibri" pitchFamily="34" charset="-122"/>
                          <a:cs typeface="Calibri" pitchFamily="34" charset="-120"/>
                        </a:rPr>
                        <a:t>وقفية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سليمان </a:t>
                      </a:r>
                      <a:pPr indent="0" marL="0">
                        <a:buNone/>
                      </a:pPr>
                      <a:r>
                        <a:rPr lang="en-US" sz="950" dirty="0">
                          <a:solidFill>
                            <a:srgbClr val="0F1E3D"/>
                          </a:solidFill>
                          <a:latin typeface="Calibri" pitchFamily="34" charset="0"/>
                          <a:ea typeface="Calibri" pitchFamily="34" charset="-122"/>
                          <a:cs typeface="Calibri" pitchFamily="34" charset="-120"/>
                        </a:rPr>
                        <a:t>عبدالعزيز </a:t>
                      </a:r>
                      <a:pPr indent="0" marL="0">
                        <a:buNone/>
                      </a:pPr>
                      <a:r>
                        <a:rPr lang="en-US" sz="950" dirty="0">
                          <a:solidFill>
                            <a:srgbClr val="0F1E3D"/>
                          </a:solidFill>
                          <a:latin typeface="Calibri" pitchFamily="34" charset="0"/>
                          <a:ea typeface="Calibri" pitchFamily="34" charset="-122"/>
                          <a:cs typeface="Calibri" pitchFamily="34" charset="-120"/>
                        </a:rPr>
                        <a:t>الراجحي </a:t>
                      </a:r>
                      <a:pPr indent="0" marL="0">
                        <a:buNone/>
                      </a:pPr>
                      <a:r>
                        <a:rPr lang="en-US" sz="950" dirty="0">
                          <a:solidFill>
                            <a:srgbClr val="0F1E3D"/>
                          </a:solidFill>
                          <a:latin typeface="Calibri" pitchFamily="34" charset="0"/>
                          <a:ea typeface="Calibri" pitchFamily="34" charset="-122"/>
                          <a:cs typeface="Calibri" pitchFamily="34" charset="-120"/>
                        </a:rPr>
                        <a:t>الخيرية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تركز </a:t>
                      </a:r>
                      <a:pPr indent="0" marL="0">
                        <a:buNone/>
                      </a:pPr>
                      <a:r>
                        <a:rPr lang="en-US" sz="950" dirty="0">
                          <a:solidFill>
                            <a:srgbClr val="0F1E3D"/>
                          </a:solidFill>
                          <a:latin typeface="Calibri" pitchFamily="34" charset="0"/>
                          <a:ea typeface="Calibri" pitchFamily="34" charset="-122"/>
                          <a:cs typeface="Calibri" pitchFamily="34" charset="-120"/>
                        </a:rPr>
                        <a:t>على </a:t>
                      </a:r>
                      <a:pPr indent="0" marL="0">
                        <a:buNone/>
                      </a:pPr>
                      <a:r>
                        <a:rPr lang="en-US" sz="950" dirty="0">
                          <a:solidFill>
                            <a:srgbClr val="0F1E3D"/>
                          </a:solidFill>
                          <a:latin typeface="Calibri" pitchFamily="34" charset="0"/>
                          <a:ea typeface="Calibri" pitchFamily="34" charset="-122"/>
                          <a:cs typeface="Calibri" pitchFamily="34" charset="-120"/>
                        </a:rPr>
                        <a:t>المشاريع </a:t>
                      </a:r>
                      <a:pPr indent="0" marL="0">
                        <a:buNone/>
                      </a:pPr>
                      <a:r>
                        <a:rPr lang="en-US" sz="950" dirty="0">
                          <a:solidFill>
                            <a:srgbClr val="0F1E3D"/>
                          </a:solidFill>
                          <a:latin typeface="Calibri" pitchFamily="34" charset="0"/>
                          <a:ea typeface="Calibri" pitchFamily="34" charset="-122"/>
                          <a:cs typeface="Calibri" pitchFamily="34" charset="-120"/>
                        </a:rPr>
                        <a:t>المؤثرة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متوسطة </a:t>
                      </a:r>
                      <a:pPr indent="0" marL="0">
                        <a:buNone/>
                      </a:pPr>
                      <a:r>
                        <a:rPr lang="en-US" sz="950" dirty="0">
                          <a:solidFill>
                            <a:srgbClr val="0F1E3D"/>
                          </a:solidFill>
                          <a:latin typeface="Calibri" pitchFamily="34" charset="0"/>
                          <a:ea typeface="Calibri" pitchFamily="34" charset="-122"/>
                          <a:cs typeface="Calibri" pitchFamily="34" charset="-120"/>
                        </a:rPr>
                        <a:t>وكبرى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التنمية </a:t>
                      </a:r>
                      <a:pPr indent="0" marL="0">
                        <a:buNone/>
                      </a:pPr>
                      <a:r>
                        <a:rPr lang="en-US" sz="950" dirty="0">
                          <a:solidFill>
                            <a:srgbClr val="0F1E3D"/>
                          </a:solidFill>
                          <a:latin typeface="Calibri" pitchFamily="34" charset="0"/>
                          <a:ea typeface="Calibri" pitchFamily="34" charset="-122"/>
                          <a:cs typeface="Calibri" pitchFamily="34" charset="-120"/>
                        </a:rPr>
                        <a:t>المستدامة، </a:t>
                      </a:r>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البحوث</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info@kkf.org.sa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011-4800800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المنح</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مانحة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الملك </a:t>
                      </a:r>
                      <a:pPr indent="0" marL="0">
                        <a:buNone/>
                      </a:pPr>
                      <a:r>
                        <a:rPr lang="en-US" sz="950" dirty="0">
                          <a:solidFill>
                            <a:srgbClr val="0F1E3D"/>
                          </a:solidFill>
                          <a:latin typeface="Calibri" pitchFamily="34" charset="0"/>
                          <a:ea typeface="Calibri" pitchFamily="34" charset="-122"/>
                          <a:cs typeface="Calibri" pitchFamily="34" charset="-120"/>
                        </a:rPr>
                        <a:t>خالد </a:t>
                      </a:r>
                      <a:pPr indent="0" marL="0">
                        <a:buNone/>
                      </a:pPr>
                      <a:r>
                        <a:rPr lang="en-US" sz="950" dirty="0">
                          <a:solidFill>
                            <a:srgbClr val="0F1E3D"/>
                          </a:solidFill>
                          <a:latin typeface="Calibri" pitchFamily="34" charset="0"/>
                          <a:ea typeface="Calibri" pitchFamily="34" charset="-122"/>
                          <a:cs typeface="Calibri" pitchFamily="34" charset="-120"/>
                        </a:rPr>
                        <a:t>الخيرية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ترعى </a:t>
                      </a:r>
                      <a:pPr indent="0" marL="0">
                        <a:buNone/>
                      </a:pPr>
                      <a:r>
                        <a:rPr lang="en-US" sz="950" dirty="0">
                          <a:solidFill>
                            <a:srgbClr val="0F1E3D"/>
                          </a:solidFill>
                          <a:latin typeface="Calibri" pitchFamily="34" charset="0"/>
                          <a:ea typeface="Calibri" pitchFamily="34" charset="-122"/>
                          <a:cs typeface="Calibri" pitchFamily="34" charset="-120"/>
                        </a:rPr>
                        <a:t>الموهوبين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نوعية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الموهبة، </a:t>
                      </a:r>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الإبداع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info@mawhiba.org.sa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011-2073000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الشراكات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وطنية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الملك </a:t>
                      </a:r>
                      <a:pPr indent="0" marL="0">
                        <a:buNone/>
                      </a:pPr>
                      <a:r>
                        <a:rPr lang="en-US" sz="950" dirty="0">
                          <a:solidFill>
                            <a:srgbClr val="0F1E3D"/>
                          </a:solidFill>
                          <a:latin typeface="Calibri" pitchFamily="34" charset="0"/>
                          <a:ea typeface="Calibri" pitchFamily="34" charset="-122"/>
                          <a:cs typeface="Calibri" pitchFamily="34" charset="-120"/>
                        </a:rPr>
                        <a:t>عبدالعزيز </a:t>
                      </a:r>
                      <a:pPr indent="0" marL="0">
                        <a:buNone/>
                      </a:pPr>
                      <a:r>
                        <a:rPr lang="en-US" sz="950" dirty="0">
                          <a:solidFill>
                            <a:srgbClr val="0F1E3D"/>
                          </a:solidFill>
                          <a:latin typeface="Calibri" pitchFamily="34" charset="0"/>
                          <a:ea typeface="Calibri" pitchFamily="34" charset="-122"/>
                          <a:cs typeface="Calibri" pitchFamily="34" charset="-120"/>
                        </a:rPr>
                        <a:t>ورجاله </a:t>
                      </a:r>
                      <a:pPr indent="0" marL="0">
                        <a:buNone/>
                      </a:pPr>
                      <a:r>
                        <a:rPr lang="en-US" sz="950" dirty="0">
                          <a:solidFill>
                            <a:srgbClr val="0F1E3D"/>
                          </a:solidFill>
                          <a:latin typeface="Calibri" pitchFamily="34" charset="0"/>
                          <a:ea typeface="Calibri" pitchFamily="34" charset="-122"/>
                          <a:cs typeface="Calibri" pitchFamily="34" charset="-120"/>
                        </a:rPr>
                        <a:t>للموهبة </a:t>
                      </a:r>
                      <a:pPr indent="0" marL="0">
                        <a:buNone/>
                      </a:pPr>
                      <a:r>
                        <a:rPr lang="en-US" sz="950" dirty="0">
                          <a:solidFill>
                            <a:srgbClr val="0F1E3D"/>
                          </a:solidFill>
                          <a:latin typeface="Calibri" pitchFamily="34" charset="0"/>
                          <a:ea typeface="Calibri" pitchFamily="34" charset="-122"/>
                          <a:cs typeface="Calibri" pitchFamily="34" charset="-120"/>
                        </a:rPr>
                        <a:t>والإبداع </a:t>
                      </a:r>
                      <a:pPr indent="0" marL="0">
                        <a:buNone/>
                      </a:pPr>
                      <a:r>
                        <a:rPr lang="en-US" sz="950" dirty="0">
                          <a:solidFill>
                            <a:srgbClr val="0F1E3D"/>
                          </a:solidFill>
                          <a:latin typeface="Calibri" pitchFamily="34" charset="0"/>
                          <a:ea typeface="Calibri" pitchFamily="34" charset="-122"/>
                          <a:cs typeface="Calibri" pitchFamily="34" charset="-120"/>
                        </a:rPr>
                        <a:t>(موهبة)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تركز </a:t>
                      </a:r>
                      <a:pPr indent="0" marL="0">
                        <a:buNone/>
                      </a:pPr>
                      <a:r>
                        <a:rPr lang="en-US" sz="950" dirty="0">
                          <a:solidFill>
                            <a:srgbClr val="0F1E3D"/>
                          </a:solidFill>
                          <a:latin typeface="Calibri" pitchFamily="34" charset="0"/>
                          <a:ea typeface="Calibri" pitchFamily="34" charset="-122"/>
                          <a:cs typeface="Calibri" pitchFamily="34" charset="-120"/>
                        </a:rPr>
                        <a:t>على </a:t>
                      </a:r>
                      <a:pPr indent="0" marL="0">
                        <a:buNone/>
                      </a:pPr>
                      <a:r>
                        <a:rPr lang="en-US" sz="950" dirty="0">
                          <a:solidFill>
                            <a:srgbClr val="0F1E3D"/>
                          </a:solidFill>
                          <a:latin typeface="Calibri" pitchFamily="34" charset="0"/>
                          <a:ea typeface="Calibri" pitchFamily="34" charset="-122"/>
                          <a:cs typeface="Calibri" pitchFamily="34" charset="-120"/>
                        </a:rPr>
                        <a:t>بناء </a:t>
                      </a:r>
                      <a:pPr indent="0" marL="0">
                        <a:buNone/>
                      </a:pPr>
                      <a:r>
                        <a:rPr lang="en-US" sz="950" dirty="0">
                          <a:solidFill>
                            <a:srgbClr val="0F1E3D"/>
                          </a:solidFill>
                          <a:latin typeface="Calibri" pitchFamily="34" charset="0"/>
                          <a:ea typeface="Calibri" pitchFamily="34" charset="-122"/>
                          <a:cs typeface="Calibri" pitchFamily="34" charset="-120"/>
                        </a:rPr>
                        <a:t>قدرات </a:t>
                      </a:r>
                      <a:pPr indent="0" marL="0">
                        <a:buNone/>
                      </a:pPr>
                      <a:r>
                        <a:rPr lang="en-US" sz="950" dirty="0">
                          <a:solidFill>
                            <a:srgbClr val="0F1E3D"/>
                          </a:solidFill>
                          <a:latin typeface="Calibri" pitchFamily="34" charset="0"/>
                          <a:ea typeface="Calibri" pitchFamily="34" charset="-122"/>
                          <a:cs typeface="Calibri" pitchFamily="34" charset="-120"/>
                        </a:rPr>
                        <a:t>الشباب</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تمكين </a:t>
                      </a:r>
                      <a:pPr indent="0" marL="0">
                        <a:buNone/>
                      </a:pPr>
                      <a:r>
                        <a:rPr lang="en-US" sz="950" dirty="0">
                          <a:solidFill>
                            <a:srgbClr val="0F1E3D"/>
                          </a:solidFill>
                          <a:latin typeface="Calibri" pitchFamily="34" charset="0"/>
                          <a:ea typeface="Calibri" pitchFamily="34" charset="-122"/>
                          <a:cs typeface="Calibri" pitchFamily="34" charset="-120"/>
                        </a:rPr>
                        <a:t>الشباب، </a:t>
                      </a:r>
                      <a:pPr indent="0" marL="0">
                        <a:buNone/>
                      </a:pPr>
                      <a:r>
                        <a:rPr lang="en-US" sz="950" dirty="0">
                          <a:solidFill>
                            <a:srgbClr val="0F1E3D"/>
                          </a:solidFill>
                          <a:latin typeface="Calibri" pitchFamily="34" charset="0"/>
                          <a:ea typeface="Calibri" pitchFamily="34" charset="-122"/>
                          <a:cs typeface="Calibri" pitchFamily="34" charset="-120"/>
                        </a:rPr>
                        <a:t>القيادة، </a:t>
                      </a:r>
                      <a:pPr indent="0" marL="0">
                        <a:buNone/>
                      </a:pPr>
                      <a:r>
                        <a:rPr lang="en-US" sz="950" dirty="0">
                          <a:solidFill>
                            <a:srgbClr val="0F1E3D"/>
                          </a:solidFill>
                          <a:latin typeface="Calibri" pitchFamily="34" charset="0"/>
                          <a:ea typeface="Calibri" pitchFamily="34" charset="-122"/>
                          <a:cs typeface="Calibri" pitchFamily="34" charset="-120"/>
                        </a:rPr>
                        <a:t>الابتكار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info@misk.org.sa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011-8003366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المبادرات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وطنية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محمد </a:t>
                      </a:r>
                      <a:pPr indent="0" marL="0">
                        <a:buNone/>
                      </a:pPr>
                      <a:r>
                        <a:rPr lang="en-US" sz="950" dirty="0">
                          <a:solidFill>
                            <a:srgbClr val="0F1E3D"/>
                          </a:solidFill>
                          <a:latin typeface="Calibri" pitchFamily="34" charset="0"/>
                          <a:ea typeface="Calibri" pitchFamily="34" charset="-122"/>
                          <a:cs typeface="Calibri" pitchFamily="34" charset="-120"/>
                        </a:rPr>
                        <a:t>بن </a:t>
                      </a:r>
                      <a:pPr indent="0" marL="0">
                        <a:buNone/>
                      </a:pPr>
                      <a:r>
                        <a:rPr lang="en-US" sz="950" dirty="0">
                          <a:solidFill>
                            <a:srgbClr val="0F1E3D"/>
                          </a:solidFill>
                          <a:latin typeface="Calibri" pitchFamily="34" charset="0"/>
                          <a:ea typeface="Calibri" pitchFamily="34" charset="-122"/>
                          <a:cs typeface="Calibri" pitchFamily="34" charset="-120"/>
                        </a:rPr>
                        <a:t>سلمان </a:t>
                      </a:r>
                      <a:pPr indent="0" marL="0">
                        <a:buNone/>
                      </a:pPr>
                      <a:r>
                        <a:rPr lang="en-US" sz="950" dirty="0">
                          <a:solidFill>
                            <a:srgbClr val="0F1E3D"/>
                          </a:solidFill>
                          <a:latin typeface="Calibri" pitchFamily="34" charset="0"/>
                          <a:ea typeface="Calibri" pitchFamily="34" charset="-122"/>
                          <a:cs typeface="Calibri" pitchFamily="34" charset="-120"/>
                        </a:rPr>
                        <a:t>الخيرية </a:t>
                      </a:r>
                      <a:pPr indent="0" marL="0">
                        <a:buNone/>
                      </a:pPr>
                      <a:r>
                        <a:rPr lang="en-US" sz="950" dirty="0">
                          <a:solidFill>
                            <a:srgbClr val="0F1E3D"/>
                          </a:solidFill>
                          <a:latin typeface="Calibri" pitchFamily="34" charset="0"/>
                          <a:ea typeface="Calibri" pitchFamily="34" charset="-122"/>
                          <a:cs typeface="Calibri" pitchFamily="34" charset="-120"/>
                        </a:rPr>
                        <a:t>(مسك)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وطنية </a:t>
                      </a:r>
                      <a:pPr indent="0" marL="0">
                        <a:buNone/>
                      </a:pPr>
                      <a:r>
                        <a:rPr lang="en-US" sz="950" dirty="0">
                          <a:solidFill>
                            <a:srgbClr val="0F1E3D"/>
                          </a:solidFill>
                          <a:latin typeface="Calibri" pitchFamily="34" charset="0"/>
                          <a:ea typeface="Calibri" pitchFamily="34" charset="-122"/>
                          <a:cs typeface="Calibri" pitchFamily="34" charset="-120"/>
                        </a:rPr>
                        <a:t>رائدة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الأيتام، </a:t>
                      </a:r>
                      <a:pPr indent="0" marL="0">
                        <a:buNone/>
                      </a:pPr>
                      <a:r>
                        <a:rPr lang="en-US" sz="950" dirty="0">
                          <a:solidFill>
                            <a:srgbClr val="0F1E3D"/>
                          </a:solidFill>
                          <a:latin typeface="Calibri" pitchFamily="34" charset="0"/>
                          <a:ea typeface="Calibri" pitchFamily="34" charset="-122"/>
                          <a:cs typeface="Calibri" pitchFamily="34" charset="-120"/>
                        </a:rPr>
                        <a:t>الفقراء، </a:t>
                      </a:r>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info@pmf.org.sa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013-8499999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المنح</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الدمام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الأمير </a:t>
                      </a:r>
                      <a:pPr indent="0" marL="0">
                        <a:buNone/>
                      </a:pPr>
                      <a:r>
                        <a:rPr lang="en-US" sz="950" dirty="0">
                          <a:solidFill>
                            <a:srgbClr val="0F1E3D"/>
                          </a:solidFill>
                          <a:latin typeface="Calibri" pitchFamily="34" charset="0"/>
                          <a:ea typeface="Calibri" pitchFamily="34" charset="-122"/>
                          <a:cs typeface="Calibri" pitchFamily="34" charset="-120"/>
                        </a:rPr>
                        <a:t>محمد </a:t>
                      </a:r>
                      <a:pPr indent="0" marL="0">
                        <a:buNone/>
                      </a:pPr>
                      <a:r>
                        <a:rPr lang="en-US" sz="950" dirty="0">
                          <a:solidFill>
                            <a:srgbClr val="0F1E3D"/>
                          </a:solidFill>
                          <a:latin typeface="Calibri" pitchFamily="34" charset="0"/>
                          <a:ea typeface="Calibri" pitchFamily="34" charset="-122"/>
                          <a:cs typeface="Calibri" pitchFamily="34" charset="-120"/>
                        </a:rPr>
                        <a:t>بن </a:t>
                      </a:r>
                      <a:pPr indent="0" marL="0">
                        <a:buNone/>
                      </a:pPr>
                      <a:r>
                        <a:rPr lang="en-US" sz="950" dirty="0">
                          <a:solidFill>
                            <a:srgbClr val="0F1E3D"/>
                          </a:solidFill>
                          <a:latin typeface="Calibri" pitchFamily="34" charset="0"/>
                          <a:ea typeface="Calibri" pitchFamily="34" charset="-122"/>
                          <a:cs typeface="Calibri" pitchFamily="34" charset="-120"/>
                        </a:rPr>
                        <a:t>فهد </a:t>
                      </a:r>
                      <a:pPr indent="0" marL="0">
                        <a:buNone/>
                      </a:pPr>
                      <a:r>
                        <a:rPr lang="en-US" sz="950" dirty="0">
                          <a:solidFill>
                            <a:srgbClr val="0F1E3D"/>
                          </a:solidFill>
                          <a:latin typeface="Calibri" pitchFamily="34" charset="0"/>
                          <a:ea typeface="Calibri" pitchFamily="34" charset="-122"/>
                          <a:cs typeface="Calibri" pitchFamily="34" charset="-120"/>
                        </a:rPr>
                        <a:t>للتنمية </a:t>
                      </a:r>
                      <a:pPr indent="0" marL="0">
                        <a:buNone/>
                      </a:pPr>
                      <a:r>
                        <a:rPr lang="en-US" sz="950" dirty="0">
                          <a:solidFill>
                            <a:srgbClr val="0F1E3D"/>
                          </a:solidFill>
                          <a:latin typeface="Calibri" pitchFamily="34" charset="0"/>
                          <a:ea typeface="Calibri" pitchFamily="34" charset="-122"/>
                          <a:cs typeface="Calibri" pitchFamily="34" charset="-120"/>
                        </a:rPr>
                        <a:t>الإنسانية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للمشاريع </a:t>
                      </a:r>
                      <a:pPr indent="0" marL="0">
                        <a:buNone/>
                      </a:pPr>
                      <a:r>
                        <a:rPr lang="en-US" sz="950" dirty="0">
                          <a:solidFill>
                            <a:srgbClr val="0F1E3D"/>
                          </a:solidFill>
                          <a:latin typeface="Calibri" pitchFamily="34" charset="0"/>
                          <a:ea typeface="Calibri" pitchFamily="34" charset="-122"/>
                          <a:cs typeface="Calibri" pitchFamily="34" charset="-120"/>
                        </a:rPr>
                        <a:t>كبيرة </a:t>
                      </a:r>
                      <a:pPr indent="0" marL="0">
                        <a:buNone/>
                      </a:pPr>
                      <a:r>
                        <a:rPr lang="en-US" sz="950" dirty="0">
                          <a:solidFill>
                            <a:srgbClr val="0F1E3D"/>
                          </a:solidFill>
                          <a:latin typeface="Calibri" pitchFamily="34" charset="0"/>
                          <a:ea typeface="Calibri" pitchFamily="34" charset="-122"/>
                          <a:cs typeface="Calibri" pitchFamily="34" charset="-120"/>
                        </a:rPr>
                        <a:t>الأثر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دولية </a:t>
                      </a:r>
                      <a:pPr indent="0" marL="0">
                        <a:buNone/>
                      </a:pPr>
                      <a:r>
                        <a:rPr lang="en-US" sz="950" dirty="0">
                          <a:solidFill>
                            <a:srgbClr val="0F1E3D"/>
                          </a:solidFill>
                          <a:latin typeface="Calibri" pitchFamily="34" charset="0"/>
                          <a:ea typeface="Calibri" pitchFamily="34" charset="-122"/>
                          <a:cs typeface="Calibri" pitchFamily="34" charset="-120"/>
                        </a:rPr>
                        <a:t>ومحلية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الإغاثة، </a:t>
                      </a:r>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حوار </a:t>
                      </a:r>
                      <a:pPr indent="0" marL="0">
                        <a:buNone/>
                      </a:pPr>
                      <a:r>
                        <a:rPr lang="en-US" sz="950" dirty="0">
                          <a:solidFill>
                            <a:srgbClr val="0F1E3D"/>
                          </a:solidFill>
                          <a:latin typeface="Calibri" pitchFamily="34" charset="0"/>
                          <a:ea typeface="Calibri" pitchFamily="34" charset="-122"/>
                          <a:cs typeface="Calibri" pitchFamily="34" charset="-120"/>
                        </a:rPr>
                        <a:t>الحضارات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info@alwaleedphilanthropies.org</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011-2110000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المشاريع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عالمية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الوليد </a:t>
                      </a:r>
                      <a:pPr indent="0" marL="0">
                        <a:buNone/>
                      </a:pPr>
                      <a:r>
                        <a:rPr lang="en-US" sz="950" dirty="0">
                          <a:solidFill>
                            <a:srgbClr val="0F1E3D"/>
                          </a:solidFill>
                          <a:latin typeface="Calibri" pitchFamily="34" charset="0"/>
                          <a:ea typeface="Calibri" pitchFamily="34" charset="-122"/>
                          <a:cs typeface="Calibri" pitchFamily="34" charset="-120"/>
                        </a:rPr>
                        <a:t>للإنسانية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وقفية </a:t>
                      </a:r>
                      <a:pPr indent="0" marL="0">
                        <a:buNone/>
                      </a:pPr>
                      <a:r>
                        <a:rPr lang="en-US" sz="950" dirty="0">
                          <a:solidFill>
                            <a:srgbClr val="0F1E3D"/>
                          </a:solidFill>
                          <a:latin typeface="Calibri" pitchFamily="34" charset="0"/>
                          <a:ea typeface="Calibri" pitchFamily="34" charset="-122"/>
                          <a:cs typeface="Calibri" pitchFamily="34" charset="-120"/>
                        </a:rPr>
                        <a:t>فاعلة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الإغاثة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info@alqahtanihf.org</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011-4654666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المنح</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عائلية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حمد </a:t>
                      </a:r>
                      <a:pPr indent="0" marL="0">
                        <a:buNone/>
                      </a:pPr>
                      <a:r>
                        <a:rPr lang="en-US" sz="950" dirty="0">
                          <a:solidFill>
                            <a:srgbClr val="0F1E3D"/>
                          </a:solidFill>
                          <a:latin typeface="Calibri" pitchFamily="34" charset="0"/>
                          <a:ea typeface="Calibri" pitchFamily="34" charset="-122"/>
                          <a:cs typeface="Calibri" pitchFamily="34" charset="-120"/>
                        </a:rPr>
                        <a:t>بن </a:t>
                      </a:r>
                      <a:pPr indent="0" marL="0">
                        <a:buNone/>
                      </a:pPr>
                      <a:r>
                        <a:rPr lang="en-US" sz="950" dirty="0">
                          <a:solidFill>
                            <a:srgbClr val="0F1E3D"/>
                          </a:solidFill>
                          <a:latin typeface="Calibri" pitchFamily="34" charset="0"/>
                          <a:ea typeface="Calibri" pitchFamily="34" charset="-122"/>
                          <a:cs typeface="Calibri" pitchFamily="34" charset="-120"/>
                        </a:rPr>
                        <a:t>عبدالله </a:t>
                      </a:r>
                      <a:pPr indent="0" marL="0">
                        <a:buNone/>
                      </a:pPr>
                      <a:r>
                        <a:rPr lang="en-US" sz="950" dirty="0">
                          <a:solidFill>
                            <a:srgbClr val="0F1E3D"/>
                          </a:solidFill>
                          <a:latin typeface="Calibri" pitchFamily="34" charset="0"/>
                          <a:ea typeface="Calibri" pitchFamily="34" charset="-122"/>
                          <a:cs typeface="Calibri" pitchFamily="34" charset="-120"/>
                        </a:rPr>
                        <a:t>القحطاني </a:t>
                      </a:r>
                      <a:pPr indent="0" marL="0">
                        <a:buNone/>
                      </a:pPr>
                      <a:r>
                        <a:rPr lang="en-US" sz="950" dirty="0">
                          <a:solidFill>
                            <a:srgbClr val="0F1E3D"/>
                          </a:solidFill>
                          <a:latin typeface="Calibri" pitchFamily="34" charset="0"/>
                          <a:ea typeface="Calibri" pitchFamily="34" charset="-122"/>
                          <a:cs typeface="Calibri" pitchFamily="34" charset="-120"/>
                        </a:rPr>
                        <a:t>وأبنائه </a:t>
                      </a:r>
                      <a:pPr indent="0" marL="0">
                        <a:buNone/>
                      </a:pPr>
                      <a:r>
                        <a:rPr lang="en-US" sz="950" dirty="0">
                          <a:solidFill>
                            <a:srgbClr val="0F1E3D"/>
                          </a:solidFill>
                          <a:latin typeface="Calibri" pitchFamily="34" charset="0"/>
                          <a:ea typeface="Calibri" pitchFamily="34" charset="-122"/>
                          <a:cs typeface="Calibri" pitchFamily="34" charset="-120"/>
                        </a:rPr>
                        <a:t>الخيرية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تدعم </a:t>
                      </a:r>
                      <a:pPr indent="0" marL="0">
                        <a:buNone/>
                      </a:pPr>
                      <a:r>
                        <a:rPr lang="en-US" sz="950" dirty="0">
                          <a:solidFill>
                            <a:srgbClr val="0F1E3D"/>
                          </a:solidFill>
                          <a:latin typeface="Calibri" pitchFamily="34" charset="0"/>
                          <a:ea typeface="Calibri" pitchFamily="34" charset="-122"/>
                          <a:cs typeface="Calibri" pitchFamily="34" charset="-120"/>
                        </a:rPr>
                        <a:t>البحث </a:t>
                      </a:r>
                      <a:pPr indent="0" marL="0">
                        <a:buNone/>
                      </a:pPr>
                      <a:r>
                        <a:rPr lang="en-US" sz="950" dirty="0">
                          <a:solidFill>
                            <a:srgbClr val="0F1E3D"/>
                          </a:solidFill>
                          <a:latin typeface="Calibri" pitchFamily="34" charset="0"/>
                          <a:ea typeface="Calibri" pitchFamily="34" charset="-122"/>
                          <a:cs typeface="Calibri" pitchFamily="34" charset="-120"/>
                        </a:rPr>
                        <a:t>والابتكار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منح </a:t>
                      </a:r>
                      <a:pPr indent="0" marL="0">
                        <a:buNone/>
                      </a:pPr>
                      <a:r>
                        <a:rPr lang="en-US" sz="950" dirty="0">
                          <a:solidFill>
                            <a:srgbClr val="0F1E3D"/>
                          </a:solidFill>
                          <a:latin typeface="Calibri" pitchFamily="34" charset="0"/>
                          <a:ea typeface="Calibri" pitchFamily="34" charset="-122"/>
                          <a:cs typeface="Calibri" pitchFamily="34" charset="-120"/>
                        </a:rPr>
                        <a:t>متوسطة </a:t>
                      </a:r>
                      <a:pPr indent="0" marL="0">
                        <a:buNone/>
                      </a:pPr>
                      <a:r>
                        <a:rPr lang="en-US" sz="950" dirty="0">
                          <a:solidFill>
                            <a:srgbClr val="0F1E3D"/>
                          </a:solidFill>
                          <a:latin typeface="Calibri" pitchFamily="34" charset="0"/>
                          <a:ea typeface="Calibri" pitchFamily="34" charset="-122"/>
                          <a:cs typeface="Calibri" pitchFamily="34" charset="-120"/>
                        </a:rPr>
                        <a:t>وكبرى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البحث </a:t>
                      </a:r>
                      <a:pPr indent="0" marL="0">
                        <a:buNone/>
                      </a:pPr>
                      <a:r>
                        <a:rPr lang="en-US" sz="950" dirty="0">
                          <a:solidFill>
                            <a:srgbClr val="0F1E3D"/>
                          </a:solidFill>
                          <a:latin typeface="Calibri" pitchFamily="34" charset="0"/>
                          <a:ea typeface="Calibri" pitchFamily="34" charset="-122"/>
                          <a:cs typeface="Calibri" pitchFamily="34" charset="-120"/>
                        </a:rPr>
                        <a:t>العلمي، </a:t>
                      </a:r>
                      <a:pPr indent="0" marL="0">
                        <a:buNone/>
                      </a:pPr>
                      <a:r>
                        <a:rPr lang="en-US" sz="950" dirty="0">
                          <a:solidFill>
                            <a:srgbClr val="0F1E3D"/>
                          </a:solidFill>
                          <a:latin typeface="Calibri" pitchFamily="34" charset="0"/>
                          <a:ea typeface="Calibri" pitchFamily="34" charset="-122"/>
                          <a:cs typeface="Calibri" pitchFamily="34" charset="-120"/>
                        </a:rPr>
                        <a:t>التراث</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info@alfozanfoundation.com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011-2057777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المشاريع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وقفية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الفوزان </a:t>
                      </a:r>
                      <a:pPr indent="0" marL="0">
                        <a:buNone/>
                      </a:pPr>
                      <a:r>
                        <a:rPr lang="en-US" sz="950" dirty="0">
                          <a:solidFill>
                            <a:srgbClr val="0F1E3D"/>
                          </a:solidFill>
                          <a:latin typeface="Calibri" pitchFamily="34" charset="0"/>
                          <a:ea typeface="Calibri" pitchFamily="34" charset="-122"/>
                          <a:cs typeface="Calibri" pitchFamily="34" charset="-120"/>
                        </a:rPr>
                        <a:t>الخيرية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مبادرات </a:t>
                      </a:r>
                      <a:pPr indent="0" marL="0">
                        <a:buNone/>
                      </a:pPr>
                      <a:r>
                        <a:rPr lang="en-US" sz="950" dirty="0">
                          <a:solidFill>
                            <a:srgbClr val="0F1E3D"/>
                          </a:solidFill>
                          <a:latin typeface="Calibri" pitchFamily="34" charset="0"/>
                          <a:ea typeface="Calibri" pitchFamily="34" charset="-122"/>
                          <a:cs typeface="Calibri" pitchFamily="34" charset="-120"/>
                        </a:rPr>
                        <a:t>عالمية </a:t>
                      </a:r>
                      <a:pPr indent="0" marL="0">
                        <a:buNone/>
                      </a:pPr>
                      <a:r>
                        <a:rPr lang="en-US" sz="950" dirty="0">
                          <a:solidFill>
                            <a:srgbClr val="0F1E3D"/>
                          </a:solidFill>
                          <a:latin typeface="Calibri" pitchFamily="34" charset="0"/>
                          <a:ea typeface="Calibri" pitchFamily="34" charset="-122"/>
                          <a:cs typeface="Calibri" pitchFamily="34" charset="-120"/>
                        </a:rPr>
                        <a:t>المستوى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تمكين </a:t>
                      </a:r>
                      <a:pPr indent="0" marL="0">
                        <a:buNone/>
                      </a:pPr>
                      <a:r>
                        <a:rPr lang="en-US" sz="950" dirty="0">
                          <a:solidFill>
                            <a:srgbClr val="0F1E3D"/>
                          </a:solidFill>
                          <a:latin typeface="Calibri" pitchFamily="34" charset="0"/>
                          <a:ea typeface="Calibri" pitchFamily="34" charset="-122"/>
                          <a:cs typeface="Calibri" pitchFamily="34" charset="-120"/>
                        </a:rPr>
                        <a:t>الشباب، </a:t>
                      </a:r>
                      <a:pPr indent="0" marL="0">
                        <a:buNone/>
                      </a:pPr>
                      <a:r>
                        <a:rPr lang="en-US" sz="950" dirty="0">
                          <a:solidFill>
                            <a:srgbClr val="0F1E3D"/>
                          </a:solidFill>
                          <a:latin typeface="Calibri" pitchFamily="34" charset="0"/>
                          <a:ea typeface="Calibri" pitchFamily="34" charset="-122"/>
                          <a:cs typeface="Calibri" pitchFamily="34" charset="-120"/>
                        </a:rPr>
                        <a:t>توظيف، </a:t>
                      </a:r>
                      <a:pPr indent="0" marL="0">
                        <a:buNone/>
                      </a:pPr>
                      <a:r>
                        <a:rPr lang="en-US" sz="950" dirty="0">
                          <a:solidFill>
                            <a:srgbClr val="0F1E3D"/>
                          </a:solidFill>
                          <a:latin typeface="Calibri" pitchFamily="34" charset="0"/>
                          <a:ea typeface="Calibri" pitchFamily="34" charset="-122"/>
                          <a:cs typeface="Calibri" pitchFamily="34" charset="-120"/>
                        </a:rPr>
                        <a:t>فقر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info@alj.com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012-6058888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عالمية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عبداللطيف </a:t>
                      </a:r>
                      <a:pPr indent="0" marL="0">
                        <a:buNone/>
                      </a:pPr>
                      <a:r>
                        <a:rPr lang="en-US" sz="950" dirty="0">
                          <a:solidFill>
                            <a:srgbClr val="0F1E3D"/>
                          </a:solidFill>
                          <a:latin typeface="Calibri" pitchFamily="34" charset="0"/>
                          <a:ea typeface="Calibri" pitchFamily="34" charset="-122"/>
                          <a:cs typeface="Calibri" pitchFamily="34" charset="-120"/>
                        </a:rPr>
                        <a:t>جميل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إسلامي </a:t>
                      </a:r>
                      <a:pPr indent="0" marL="0">
                        <a:buNone/>
                      </a:pPr>
                      <a:r>
                        <a:rPr lang="en-US" sz="950" dirty="0">
                          <a:solidFill>
                            <a:srgbClr val="0F1E3D"/>
                          </a:solidFill>
                          <a:latin typeface="Calibri" pitchFamily="34" charset="0"/>
                          <a:ea typeface="Calibri" pitchFamily="34" charset="-122"/>
                          <a:cs typeface="Calibri" pitchFamily="34" charset="-120"/>
                        </a:rPr>
                        <a:t>رائد </a:t>
                      </a:r>
                      <a:pPr indent="0" marL="0">
                        <a:buNone/>
                      </a:pPr>
                      <a:r>
                        <a:rPr lang="en-US" sz="950" dirty="0">
                          <a:solidFill>
                            <a:srgbClr val="0F1E3D"/>
                          </a:solidFill>
                          <a:latin typeface="Calibri" pitchFamily="34" charset="0"/>
                          <a:ea typeface="Calibri" pitchFamily="34" charset="-122"/>
                          <a:cs typeface="Calibri" pitchFamily="34" charset="-120"/>
                        </a:rPr>
                        <a:t>بالمملكة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تمكين، </a:t>
                      </a:r>
                      <a:pPr indent="0" marL="0">
                        <a:buNone/>
                      </a:pPr>
                      <a:r>
                        <a:rPr lang="en-US" sz="950" dirty="0">
                          <a:solidFill>
                            <a:srgbClr val="0F1E3D"/>
                          </a:solidFill>
                          <a:latin typeface="Calibri" pitchFamily="34" charset="0"/>
                          <a:ea typeface="Calibri" pitchFamily="34" charset="-122"/>
                          <a:cs typeface="Calibri" pitchFamily="34" charset="-120"/>
                        </a:rPr>
                        <a:t>صحة، </a:t>
                      </a:r>
                      <a:pPr indent="0" marL="0">
                        <a:buNone/>
                      </a:pPr>
                      <a:r>
                        <a:rPr lang="en-US" sz="950" dirty="0">
                          <a:solidFill>
                            <a:srgbClr val="0F1E3D"/>
                          </a:solidFill>
                          <a:latin typeface="Calibri" pitchFamily="34" charset="0"/>
                          <a:ea typeface="Calibri" pitchFamily="34" charset="-122"/>
                          <a:cs typeface="Calibri" pitchFamily="34" charset="-120"/>
                        </a:rPr>
                        <a:t>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csr@alrajhibank.com.sa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920003344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مصرف </a:t>
                      </a:r>
                      <a:pPr indent="0" marL="0">
                        <a:buNone/>
                      </a:pPr>
                      <a:r>
                        <a:rPr lang="en-US" sz="950" dirty="0">
                          <a:solidFill>
                            <a:srgbClr val="0F1E3D"/>
                          </a:solidFill>
                          <a:latin typeface="Calibri" pitchFamily="34" charset="0"/>
                          <a:ea typeface="Calibri" pitchFamily="34" charset="-122"/>
                          <a:cs typeface="Calibri" pitchFamily="34" charset="-120"/>
                        </a:rPr>
                        <a:t>الراجحي </a:t>
                      </a:r>
                      <a:pPr indent="0" marL="0">
                        <a:buNone/>
                      </a:pPr>
                      <a:r>
                        <a:rPr lang="en-US" sz="950" dirty="0">
                          <a:solidFill>
                            <a:srgbClr val="0F1E3D"/>
                          </a:solidFill>
                          <a:latin typeface="Calibri" pitchFamily="34" charset="0"/>
                          <a:ea typeface="Calibri" pitchFamily="34" charset="-122"/>
                          <a:cs typeface="Calibri" pitchFamily="34" charset="-120"/>
                        </a:rPr>
                        <a:t>- </a:t>
                      </a:r>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بالمملكة </a:t>
                      </a:r>
                      <a:pPr indent="0" marL="0">
                        <a:buNone/>
                      </a:pPr>
                      <a:r>
                        <a:rPr lang="en-US" sz="950" dirty="0">
                          <a:solidFill>
                            <a:srgbClr val="0F1E3D"/>
                          </a:solidFill>
                          <a:latin typeface="Calibri" pitchFamily="34" charset="0"/>
                          <a:ea typeface="Calibri" pitchFamily="34" charset="-122"/>
                          <a:cs typeface="Calibri" pitchFamily="34" charset="-120"/>
                        </a:rPr>
                        <a:t>بعد </a:t>
                      </a:r>
                      <a:pPr indent="0" marL="0">
                        <a:buNone/>
                      </a:pPr>
                      <a:r>
                        <a:rPr lang="en-US" sz="950" dirty="0">
                          <a:solidFill>
                            <a:srgbClr val="0F1E3D"/>
                          </a:solidFill>
                          <a:latin typeface="Calibri" pitchFamily="34" charset="0"/>
                          <a:ea typeface="Calibri" pitchFamily="34" charset="-122"/>
                          <a:cs typeface="Calibri" pitchFamily="34" charset="-120"/>
                        </a:rPr>
                        <a:t>الاندماج</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الإسكان، </a:t>
                      </a:r>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الاقتصادي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csr@alahli.com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920001000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البنك </a:t>
                      </a:r>
                      <a:pPr indent="0" marL="0">
                        <a:buNone/>
                      </a:pPr>
                      <a:r>
                        <a:rPr lang="en-US" sz="950" dirty="0">
                          <a:solidFill>
                            <a:srgbClr val="0F1E3D"/>
                          </a:solidFill>
                          <a:latin typeface="Calibri" pitchFamily="34" charset="0"/>
                          <a:ea typeface="Calibri" pitchFamily="34" charset="-122"/>
                          <a:cs typeface="Calibri" pitchFamily="34" charset="-120"/>
                        </a:rPr>
                        <a:t>الأهلي </a:t>
                      </a:r>
                      <a:pPr indent="0" marL="0">
                        <a:buNone/>
                      </a:pPr>
                      <a:r>
                        <a:rPr lang="en-US" sz="950" dirty="0">
                          <a:solidFill>
                            <a:srgbClr val="0F1E3D"/>
                          </a:solidFill>
                          <a:latin typeface="Calibri" pitchFamily="34" charset="0"/>
                          <a:ea typeface="Calibri" pitchFamily="34" charset="-122"/>
                          <a:cs typeface="Calibri" pitchFamily="34" charset="-120"/>
                        </a:rPr>
                        <a:t>السعودي </a:t>
                      </a:r>
                      <a:pPr indent="0" marL="0">
                        <a:buNone/>
                      </a:pPr>
                      <a:r>
                        <a:rPr lang="en-US" sz="950" dirty="0">
                          <a:solidFill>
                            <a:srgbClr val="0F1E3D"/>
                          </a:solidFill>
                          <a:latin typeface="Calibri" pitchFamily="34" charset="0"/>
                          <a:ea typeface="Calibri" pitchFamily="34" charset="-122"/>
                          <a:cs typeface="Calibri" pitchFamily="34" charset="-120"/>
                        </a:rPr>
                        <a:t>SNB</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يدعم </a:t>
                      </a:r>
                      <a:pPr indent="0" marL="0">
                        <a:buNone/>
                      </a:pPr>
                      <a:r>
                        <a:rPr lang="en-US" sz="950" dirty="0">
                          <a:solidFill>
                            <a:srgbClr val="0F1E3D"/>
                          </a:solidFill>
                          <a:latin typeface="Calibri" pitchFamily="34" charset="0"/>
                          <a:ea typeface="Calibri" pitchFamily="34" charset="-122"/>
                          <a:cs typeface="Calibri" pitchFamily="34" charset="-120"/>
                        </a:rPr>
                        <a:t>الشباب </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رياديي </a:t>
                      </a:r>
                      <a:pPr indent="0" marL="0">
                        <a:buNone/>
                      </a:pPr>
                      <a:r>
                        <a:rPr lang="en-US" sz="950" dirty="0">
                          <a:solidFill>
                            <a:srgbClr val="0F1E3D"/>
                          </a:solidFill>
                          <a:latin typeface="Calibri" pitchFamily="34" charset="0"/>
                          <a:ea typeface="Calibri" pitchFamily="34" charset="-122"/>
                          <a:cs typeface="Calibri" pitchFamily="34" charset="-120"/>
                        </a:rPr>
                        <a:t>الأعمال، </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920002470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المجتمع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6172200"/>
            <a:ext cx="10972800" cy="164592"/>
          </a:xfrm>
          <a:prstGeom prst="rect">
            <a:avLst/>
          </a:prstGeom>
          <a:noFill/>
          <a:ln/>
        </p:spPr>
        <p:txBody>
          <a:bodyPr wrap="square" rtlCol="0" anchor="ctr"/>
          <a:lstStyle/>
          <a:p>
            <a:pPr rtl="1" algn="r" indent="0" marL="0">
              <a:buNone/>
            </a:pPr>
            <a:r>
              <a:rPr lang="en-US" sz="900" dirty="0">
                <a:solidFill>
                  <a:srgbClr val="94A3B8"/>
                </a:solidFill>
                <a:latin typeface="Calibri" pitchFamily="34" charset="0"/>
                <a:ea typeface="Calibri" pitchFamily="34" charset="-122"/>
                <a:cs typeface="Calibri" pitchFamily="34" charset="-120"/>
              </a:rPr>
              <a:t>المصادر: المواقع الرسمية للجهات + الشبكة السعودية للمسؤولية الاجتماعية (csrsa.net) + المركز الوطني للقطاع غير الربحي (ncnp.gov.sa). يُرجى التحقق من تحديث البيانات قبل التواصل.</a:t>
            </a:r>
            <a:endParaRPr lang="en-US" sz="900" dirty="0"/>
          </a:p>
        </p:txBody>
      </p:sp>
      <p:sp>
        <p:nvSpPr>
          <p:cNvPr id="8" name="Shape 5"/>
          <p:cNvSpPr/>
          <p:nvPr/>
        </p:nvSpPr>
        <p:spPr>
          <a:xfrm>
            <a:off x="0" y="6601968"/>
            <a:ext cx="12191695" cy="256032"/>
          </a:xfrm>
          <a:prstGeom prst="rect">
            <a:avLst/>
          </a:prstGeom>
          <a:solidFill>
            <a:srgbClr val="081229"/>
          </a:solidFill>
          <a:ln w="12700">
            <a:solidFill>
              <a:srgbClr val="081229"/>
            </a:solidFill>
            <a:prstDash val="solid"/>
          </a:ln>
        </p:spPr>
      </p:sp>
      <p:sp>
        <p:nvSpPr>
          <p:cNvPr id="9" name="Text 6"/>
          <p:cNvSpPr/>
          <p:nvPr/>
        </p:nvSpPr>
        <p:spPr>
          <a:xfrm>
            <a:off x="457200" y="6620256"/>
            <a:ext cx="11155680" cy="146304"/>
          </a:xfrm>
          <a:prstGeom prst="rect">
            <a:avLst/>
          </a:prstGeom>
          <a:noFill/>
          <a:ln/>
        </p:spPr>
        <p:txBody>
          <a:bodyPr wrap="square" rtlCol="0" anchor="ctr"/>
          <a:lstStyle/>
          <a:p>
            <a:pPr rtl="1" algn="r" indent="0" marL="0">
              <a:buNone/>
            </a:pPr>
            <a:r>
              <a:rPr lang="en-US" sz="900" dirty="0">
                <a:solidFill>
                  <a:srgbClr val="94A3B8"/>
                </a:solidFill>
                <a:latin typeface="Calibri" pitchFamily="34" charset="0"/>
                <a:ea typeface="Calibri" pitchFamily="34" charset="-122"/>
                <a:cs typeface="Calibri" pitchFamily="34" charset="-120"/>
              </a:rPr>
              <a:t>مادة داعمة تنفيذية جاهزة</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4048" y="457200"/>
          <a:ext cx="11430000" cy="914400"/>
        </p:xfrm>
        <a:graphic>
          <a:graphicData uri="http://schemas.openxmlformats.org/drawingml/2006/table">
            <a:tbl>
              <a:tblPr/>
              <a:tblGrid>
                <a:gridCol w="1143000"/>
                <a:gridCol w="1143000"/>
                <a:gridCol w="1143000"/>
                <a:gridCol w="1143000"/>
                <a:gridCol w="1143000"/>
                <a:gridCol w="1143000"/>
                <a:gridCol w="1143000"/>
                <a:gridCol w="1143000"/>
                <a:gridCol w="1143000"/>
                <a:gridCol w="1143000"/>
              </a:tblGrid>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وريادة </a:t>
                      </a:r>
                      <a:pPr indent="0" marL="0">
                        <a:buNone/>
                      </a:pPr>
                      <a:r>
                        <a:rPr lang="en-US" sz="950" dirty="0">
                          <a:solidFill>
                            <a:srgbClr val="0F1E3D"/>
                          </a:solidFill>
                          <a:latin typeface="Calibri" pitchFamily="34" charset="0"/>
                          <a:ea typeface="Calibri" pitchFamily="34" charset="-122"/>
                          <a:cs typeface="Calibri" pitchFamily="34" charset="-120"/>
                        </a:rPr>
                        <a:t>الأعمال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community@riyadbank.com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يدعم </a:t>
                      </a:r>
                      <a:pPr indent="0" marL="0">
                        <a:buNone/>
                      </a:pPr>
                      <a:r>
                        <a:rPr lang="en-US" sz="950" dirty="0">
                          <a:solidFill>
                            <a:srgbClr val="0F1E3D"/>
                          </a:solidFill>
                          <a:latin typeface="Calibri" pitchFamily="34" charset="0"/>
                          <a:ea typeface="Calibri" pitchFamily="34" charset="-122"/>
                          <a:cs typeface="Calibri" pitchFamily="34" charset="-120"/>
                        </a:rPr>
                        <a:t>المبادرات </a:t>
                      </a:r>
                      <a:pPr indent="0" marL="0">
                        <a:buNone/>
                      </a:pPr>
                      <a:r>
                        <a:rPr lang="en-US" sz="950" dirty="0">
                          <a:solidFill>
                            <a:srgbClr val="0F1E3D"/>
                          </a:solidFill>
                          <a:latin typeface="Calibri" pitchFamily="34" charset="0"/>
                          <a:ea typeface="Calibri" pitchFamily="34" charset="-122"/>
                          <a:cs typeface="Calibri" pitchFamily="34" charset="-120"/>
                        </a:rPr>
                        <a:t>المؤثرة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البيئة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csr@alfransi.com.sa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920000576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البنك </a:t>
                      </a:r>
                      <a:pPr indent="0" marL="0">
                        <a:buNone/>
                      </a:pPr>
                      <a:r>
                        <a:rPr lang="en-US" sz="950" dirty="0">
                          <a:solidFill>
                            <a:srgbClr val="0F1E3D"/>
                          </a:solidFill>
                          <a:latin typeface="Calibri" pitchFamily="34" charset="0"/>
                          <a:ea typeface="Calibri" pitchFamily="34" charset="-122"/>
                          <a:cs typeface="Calibri" pitchFamily="34" charset="-120"/>
                        </a:rPr>
                        <a:t>السعودي </a:t>
                      </a:r>
                      <a:pPr indent="0" marL="0">
                        <a:buNone/>
                      </a:pPr>
                      <a:r>
                        <a:rPr lang="en-US" sz="950" dirty="0">
                          <a:solidFill>
                            <a:srgbClr val="0F1E3D"/>
                          </a:solidFill>
                          <a:latin typeface="Calibri" pitchFamily="34" charset="0"/>
                          <a:ea typeface="Calibri" pitchFamily="34" charset="-122"/>
                          <a:cs typeface="Calibri" pitchFamily="34" charset="-120"/>
                        </a:rPr>
                        <a:t>الفرنسي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يركز </a:t>
                      </a:r>
                      <a:pPr indent="0" marL="0">
                        <a:buNone/>
                      </a:pPr>
                      <a:r>
                        <a:rPr lang="en-US" sz="950" dirty="0">
                          <a:solidFill>
                            <a:srgbClr val="0F1E3D"/>
                          </a:solidFill>
                          <a:latin typeface="Calibri" pitchFamily="34" charset="0"/>
                          <a:ea typeface="Calibri" pitchFamily="34" charset="-122"/>
                          <a:cs typeface="Calibri" pitchFamily="34" charset="-120"/>
                        </a:rPr>
                        <a:t>على </a:t>
                      </a:r>
                      <a:pPr indent="0" marL="0">
                        <a:buNone/>
                      </a:pPr>
                      <a:r>
                        <a:rPr lang="en-US" sz="950" dirty="0">
                          <a:solidFill>
                            <a:srgbClr val="0F1E3D"/>
                          </a:solidFill>
                          <a:latin typeface="Calibri" pitchFamily="34" charset="0"/>
                          <a:ea typeface="Calibri" pitchFamily="34" charset="-122"/>
                          <a:cs typeface="Calibri" pitchFamily="34" charset="-120"/>
                        </a:rPr>
                        <a:t>الاستدامة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البيئة، </a:t>
                      </a:r>
                      <a:pPr indent="0" marL="0">
                        <a:buNone/>
                      </a:pPr>
                      <a:r>
                        <a:rPr lang="en-US" sz="950" dirty="0">
                          <a:solidFill>
                            <a:srgbClr val="0F1E3D"/>
                          </a:solidFill>
                          <a:latin typeface="Calibri" pitchFamily="34" charset="0"/>
                          <a:ea typeface="Calibri" pitchFamily="34" charset="-122"/>
                          <a:cs typeface="Calibri" pitchFamily="34" charset="-120"/>
                        </a:rPr>
                        <a:t>التمكين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sustainability@sabb.com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920007222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الاستدامة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البنك </a:t>
                      </a:r>
                      <a:pPr indent="0" marL="0">
                        <a:buNone/>
                      </a:pPr>
                      <a:r>
                        <a:rPr lang="en-US" sz="950" dirty="0">
                          <a:solidFill>
                            <a:srgbClr val="0F1E3D"/>
                          </a:solidFill>
                          <a:latin typeface="Calibri" pitchFamily="34" charset="0"/>
                          <a:ea typeface="Calibri" pitchFamily="34" charset="-122"/>
                          <a:cs typeface="Calibri" pitchFamily="34" charset="-120"/>
                        </a:rPr>
                        <a:t>السعودي </a:t>
                      </a:r>
                      <a:pPr indent="0" marL="0">
                        <a:buNone/>
                      </a:pPr>
                      <a:r>
                        <a:rPr lang="en-US" sz="950" dirty="0">
                          <a:solidFill>
                            <a:srgbClr val="0F1E3D"/>
                          </a:solidFill>
                          <a:latin typeface="Calibri" pitchFamily="34" charset="0"/>
                          <a:ea typeface="Calibri" pitchFamily="34" charset="-122"/>
                          <a:cs typeface="Calibri" pitchFamily="34" charset="-120"/>
                        </a:rPr>
                        <a:t>البريطاني </a:t>
                      </a:r>
                      <a:pPr indent="0" marL="0">
                        <a:buNone/>
                      </a:pPr>
                      <a:r>
                        <a:rPr lang="en-US" sz="950" dirty="0">
                          <a:solidFill>
                            <a:srgbClr val="0F1E3D"/>
                          </a:solidFill>
                          <a:latin typeface="Calibri" pitchFamily="34" charset="0"/>
                          <a:ea typeface="Calibri" pitchFamily="34" charset="-122"/>
                          <a:cs typeface="Calibri" pitchFamily="34" charset="-120"/>
                        </a:rPr>
                        <a:t>(ساب)</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يدعم </a:t>
                      </a:r>
                      <a:pPr indent="0" marL="0">
                        <a:buNone/>
                      </a:pPr>
                      <a:r>
                        <a:rPr lang="en-US" sz="950" dirty="0">
                          <a:solidFill>
                            <a:srgbClr val="0F1E3D"/>
                          </a:solidFill>
                          <a:latin typeface="Calibri" pitchFamily="34" charset="0"/>
                          <a:ea typeface="Calibri" pitchFamily="34" charset="-122"/>
                          <a:cs typeface="Calibri" pitchFamily="34" charset="-120"/>
                        </a:rPr>
                        <a:t>البرامج </a:t>
                      </a:r>
                      <a:pPr indent="0" marL="0">
                        <a:buNone/>
                      </a:pPr>
                      <a:r>
                        <a:rPr lang="en-US" sz="950" dirty="0">
                          <a:solidFill>
                            <a:srgbClr val="0F1E3D"/>
                          </a:solidFill>
                          <a:latin typeface="Calibri" pitchFamily="34" charset="0"/>
                          <a:ea typeface="Calibri" pitchFamily="34" charset="-122"/>
                          <a:cs typeface="Calibri" pitchFamily="34" charset="-120"/>
                        </a:rPr>
                        <a:t>الإنسانية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الكفالات، </a:t>
                      </a:r>
                      <a:pPr indent="0" marL="0">
                        <a:buNone/>
                      </a:pPr>
                      <a:r>
                        <a:rPr lang="en-US" sz="950" dirty="0">
                          <a:solidFill>
                            <a:srgbClr val="0F1E3D"/>
                          </a:solidFill>
                          <a:latin typeface="Calibri" pitchFamily="34" charset="0"/>
                          <a:ea typeface="Calibri" pitchFamily="34" charset="-122"/>
                          <a:cs typeface="Calibri" pitchFamily="34" charset="-120"/>
                        </a:rPr>
                        <a:t>الزكاة، </a:t>
                      </a:r>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csr@bankalbilad.com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920002030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إسلامي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البلاد</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حديث </a:t>
                      </a:r>
                      <a:pPr indent="0" marL="0">
                        <a:buNone/>
                      </a:pPr>
                      <a:r>
                        <a:rPr lang="en-US" sz="950" dirty="0">
                          <a:solidFill>
                            <a:srgbClr val="0F1E3D"/>
                          </a:solidFill>
                          <a:latin typeface="Calibri" pitchFamily="34" charset="0"/>
                          <a:ea typeface="Calibri" pitchFamily="34" charset="-122"/>
                          <a:cs typeface="Calibri" pitchFamily="34" charset="-120"/>
                        </a:rPr>
                        <a:t>ومتنامي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التمكين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csr@alinma.com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920033030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بنك </a:t>
                      </a:r>
                      <a:pPr indent="0" marL="0">
                        <a:buNone/>
                      </a:pPr>
                      <a:r>
                        <a:rPr lang="en-US" sz="950" dirty="0">
                          <a:solidFill>
                            <a:srgbClr val="0F1E3D"/>
                          </a:solidFill>
                          <a:latin typeface="Calibri" pitchFamily="34" charset="0"/>
                          <a:ea typeface="Calibri" pitchFamily="34" charset="-122"/>
                          <a:cs typeface="Calibri" pitchFamily="34" charset="-120"/>
                        </a:rPr>
                        <a:t>الإنماء</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مزود </a:t>
                      </a:r>
                      <a:pPr indent="0" marL="0">
                        <a:buNone/>
                      </a:pPr>
                      <a:r>
                        <a:rPr lang="en-US" sz="950" dirty="0">
                          <a:solidFill>
                            <a:srgbClr val="0F1E3D"/>
                          </a:solidFill>
                          <a:latin typeface="Calibri" pitchFamily="34" charset="0"/>
                          <a:ea typeface="Calibri" pitchFamily="34" charset="-122"/>
                          <a:cs typeface="Calibri" pitchFamily="34" charset="-120"/>
                        </a:rPr>
                        <a:t>اتصالات </a:t>
                      </a:r>
                      <a:pPr indent="0" marL="0">
                        <a:buNone/>
                      </a:pPr>
                      <a:r>
                        <a:rPr lang="en-US" sz="950" dirty="0">
                          <a:solidFill>
                            <a:srgbClr val="0F1E3D"/>
                          </a:solidFill>
                          <a:latin typeface="Calibri" pitchFamily="34" charset="0"/>
                          <a:ea typeface="Calibri" pitchFamily="34" charset="-122"/>
                          <a:cs typeface="Calibri" pitchFamily="34" charset="-120"/>
                        </a:rPr>
                        <a:t>بالمملكة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التحول </a:t>
                      </a:r>
                      <a:pPr indent="0" marL="0">
                        <a:buNone/>
                      </a:pPr>
                      <a:r>
                        <a:rPr lang="en-US" sz="950" dirty="0">
                          <a:solidFill>
                            <a:srgbClr val="0F1E3D"/>
                          </a:solidFill>
                          <a:latin typeface="Calibri" pitchFamily="34" charset="0"/>
                          <a:ea typeface="Calibri" pitchFamily="34" charset="-122"/>
                          <a:cs typeface="Calibri" pitchFamily="34" charset="-120"/>
                        </a:rPr>
                        <a:t>الرقمي، </a:t>
                      </a:r>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التقني، </a:t>
                      </a:r>
                      <a:pPr indent="0" marL="0">
                        <a:buNone/>
                      </a:pPr>
                      <a:r>
                        <a:rPr lang="en-US" sz="950" dirty="0">
                          <a:solidFill>
                            <a:srgbClr val="0F1E3D"/>
                          </a:solidFill>
                          <a:latin typeface="Calibri" pitchFamily="34" charset="0"/>
                          <a:ea typeface="Calibri" pitchFamily="34" charset="-122"/>
                          <a:cs typeface="Calibri" pitchFamily="34" charset="-120"/>
                        </a:rPr>
                        <a:t>تمكين </a:t>
                      </a:r>
                      <a:pPr indent="0" marL="0">
                        <a:buNone/>
                      </a:pPr>
                      <a:r>
                        <a:rPr lang="en-US" sz="950" dirty="0">
                          <a:solidFill>
                            <a:srgbClr val="0F1E3D"/>
                          </a:solidFill>
                          <a:latin typeface="Calibri" pitchFamily="34" charset="0"/>
                          <a:ea typeface="Calibri" pitchFamily="34" charset="-122"/>
                          <a:cs typeface="Calibri" pitchFamily="34" charset="-120"/>
                        </a:rPr>
                        <a:t>الشباب</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csr@stc.com.sa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920000800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اتصالات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الاتصالات </a:t>
                      </a:r>
                      <a:pPr indent="0" marL="0">
                        <a:buNone/>
                      </a:pPr>
                      <a:r>
                        <a:rPr lang="en-US" sz="950" dirty="0">
                          <a:solidFill>
                            <a:srgbClr val="0F1E3D"/>
                          </a:solidFill>
                          <a:latin typeface="Calibri" pitchFamily="34" charset="0"/>
                          <a:ea typeface="Calibri" pitchFamily="34" charset="-122"/>
                          <a:cs typeface="Calibri" pitchFamily="34" charset="-120"/>
                        </a:rPr>
                        <a:t>السعودية </a:t>
                      </a:r>
                      <a:pPr indent="0" marL="0">
                        <a:buNone/>
                      </a:pPr>
                      <a:r>
                        <a:rPr lang="en-US" sz="950" dirty="0">
                          <a:solidFill>
                            <a:srgbClr val="0F1E3D"/>
                          </a:solidFill>
                          <a:latin typeface="Calibri" pitchFamily="34" charset="0"/>
                          <a:ea typeface="Calibri" pitchFamily="34" charset="-122"/>
                          <a:cs typeface="Calibri" pitchFamily="34" charset="-120"/>
                        </a:rPr>
                        <a:t>stc</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يدعم </a:t>
                      </a:r>
                      <a:pPr indent="0" marL="0">
                        <a:buNone/>
                      </a:pPr>
                      <a:r>
                        <a:rPr lang="en-US" sz="950" dirty="0">
                          <a:solidFill>
                            <a:srgbClr val="0F1E3D"/>
                          </a:solidFill>
                          <a:latin typeface="Calibri" pitchFamily="34" charset="0"/>
                          <a:ea typeface="Calibri" pitchFamily="34" charset="-122"/>
                          <a:cs typeface="Calibri" pitchFamily="34" charset="-120"/>
                        </a:rPr>
                        <a:t>برامج </a:t>
                      </a:r>
                      <a:pPr indent="0" marL="0">
                        <a:buNone/>
                      </a:pPr>
                      <a:r>
                        <a:rPr lang="en-US" sz="950" dirty="0">
                          <a:solidFill>
                            <a:srgbClr val="0F1E3D"/>
                          </a:solidFill>
                          <a:latin typeface="Calibri" pitchFamily="34" charset="0"/>
                          <a:ea typeface="Calibri" pitchFamily="34" charset="-122"/>
                          <a:cs typeface="Calibri" pitchFamily="34" charset="-120"/>
                        </a:rPr>
                        <a:t>تكنولوجية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الرقمي، </a:t>
                      </a:r>
                      <a:pPr indent="0" marL="0">
                        <a:buNone/>
                      </a:pPr>
                      <a:r>
                        <a:rPr lang="en-US" sz="950" dirty="0">
                          <a:solidFill>
                            <a:srgbClr val="0F1E3D"/>
                          </a:solidFill>
                          <a:latin typeface="Calibri" pitchFamily="34" charset="0"/>
                          <a:ea typeface="Calibri" pitchFamily="34" charset="-122"/>
                          <a:cs typeface="Calibri" pitchFamily="34" charset="-120"/>
                        </a:rPr>
                        <a:t>الإعاقة، </a:t>
                      </a:r>
                      <a:pPr indent="0" marL="0">
                        <a:buNone/>
                      </a:pPr>
                      <a:r>
                        <a:rPr lang="en-US" sz="950" dirty="0">
                          <a:solidFill>
                            <a:srgbClr val="0F1E3D"/>
                          </a:solidFill>
                          <a:latin typeface="Calibri" pitchFamily="34" charset="0"/>
                          <a:ea typeface="Calibri" pitchFamily="34" charset="-122"/>
                          <a:cs typeface="Calibri" pitchFamily="34" charset="-120"/>
                        </a:rPr>
                        <a:t>الشباب</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csr@mobily.com.sa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9200012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اتصالات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موبايلي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يركز </a:t>
                      </a:r>
                      <a:pPr indent="0" marL="0">
                        <a:buNone/>
                      </a:pPr>
                      <a:r>
                        <a:rPr lang="en-US" sz="950" dirty="0">
                          <a:solidFill>
                            <a:srgbClr val="0F1E3D"/>
                          </a:solidFill>
                          <a:latin typeface="Calibri" pitchFamily="34" charset="0"/>
                          <a:ea typeface="Calibri" pitchFamily="34" charset="-122"/>
                          <a:cs typeface="Calibri" pitchFamily="34" charset="-120"/>
                        </a:rPr>
                        <a:t>على </a:t>
                      </a:r>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الرقمي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الرقمي، </a:t>
                      </a:r>
                      <a:pPr indent="0" marL="0">
                        <a:buNone/>
                      </a:pPr>
                      <a:r>
                        <a:rPr lang="en-US" sz="950" dirty="0">
                          <a:solidFill>
                            <a:srgbClr val="0F1E3D"/>
                          </a:solidFill>
                          <a:latin typeface="Calibri" pitchFamily="34" charset="0"/>
                          <a:ea typeface="Calibri" pitchFamily="34" charset="-122"/>
                          <a:cs typeface="Calibri" pitchFamily="34" charset="-120"/>
                        </a:rPr>
                        <a:t>الفئات </a:t>
                      </a:r>
                      <a:pPr indent="0" marL="0">
                        <a:buNone/>
                      </a:pPr>
                      <a:r>
                        <a:rPr lang="en-US" sz="950" dirty="0">
                          <a:solidFill>
                            <a:srgbClr val="0F1E3D"/>
                          </a:solidFill>
                          <a:latin typeface="Calibri" pitchFamily="34" charset="0"/>
                          <a:ea typeface="Calibri" pitchFamily="34" charset="-122"/>
                          <a:cs typeface="Calibri" pitchFamily="34" charset="-120"/>
                        </a:rPr>
                        <a:t>الخاصة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csr@sa.zain.com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959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اتصالات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زين </a:t>
                      </a:r>
                      <a:pPr indent="0" marL="0">
                        <a:buNone/>
                      </a:pPr>
                      <a:r>
                        <a:rPr lang="en-US" sz="950" dirty="0">
                          <a:solidFill>
                            <a:srgbClr val="0F1E3D"/>
                          </a:solidFill>
                          <a:latin typeface="Calibri" pitchFamily="34" charset="0"/>
                          <a:ea typeface="Calibri" pitchFamily="34" charset="-122"/>
                          <a:cs typeface="Calibri" pitchFamily="34" charset="-120"/>
                        </a:rPr>
                        <a:t>السعودية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طاقة </a:t>
                      </a:r>
                      <a:pPr indent="0" marL="0">
                        <a:buNone/>
                      </a:pPr>
                      <a:r>
                        <a:rPr lang="en-US" sz="950" dirty="0">
                          <a:solidFill>
                            <a:srgbClr val="0F1E3D"/>
                          </a:solidFill>
                          <a:latin typeface="Calibri" pitchFamily="34" charset="0"/>
                          <a:ea typeface="Calibri" pitchFamily="34" charset="-122"/>
                          <a:cs typeface="Calibri" pitchFamily="34" charset="-120"/>
                        </a:rPr>
                        <a:t>بالعالم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البيئة، </a:t>
                      </a:r>
                      <a:pPr indent="0" marL="0">
                        <a:buNone/>
                      </a:pPr>
                      <a:r>
                        <a:rPr lang="en-US" sz="950" dirty="0">
                          <a:solidFill>
                            <a:srgbClr val="0F1E3D"/>
                          </a:solidFill>
                          <a:latin typeface="Calibri" pitchFamily="34" charset="0"/>
                          <a:ea typeface="Calibri" pitchFamily="34" charset="-122"/>
                          <a:cs typeface="Calibri" pitchFamily="34" charset="-120"/>
                        </a:rPr>
                        <a:t>الصحة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citizenship@aramco.com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013-8722222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المواطنة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الظهران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طاقة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أرامكو </a:t>
                      </a:r>
                      <a:pPr indent="0" marL="0">
                        <a:buNone/>
                      </a:pPr>
                      <a:r>
                        <a:rPr lang="en-US" sz="950" dirty="0">
                          <a:solidFill>
                            <a:srgbClr val="0F1E3D"/>
                          </a:solidFill>
                          <a:latin typeface="Calibri" pitchFamily="34" charset="0"/>
                          <a:ea typeface="Calibri" pitchFamily="34" charset="-122"/>
                          <a:cs typeface="Calibri" pitchFamily="34" charset="-120"/>
                        </a:rPr>
                        <a:t>السعودية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رائدة </a:t>
                      </a:r>
                      <a:pPr indent="0" marL="0">
                        <a:buNone/>
                      </a:pPr>
                      <a:r>
                        <a:rPr lang="en-US" sz="950" dirty="0">
                          <a:solidFill>
                            <a:srgbClr val="0F1E3D"/>
                          </a:solidFill>
                          <a:latin typeface="Calibri" pitchFamily="34" charset="0"/>
                          <a:ea typeface="Calibri" pitchFamily="34" charset="-122"/>
                          <a:cs typeface="Calibri" pitchFamily="34" charset="-120"/>
                        </a:rPr>
                        <a:t>في </a:t>
                      </a:r>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المؤسسية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STEM، </a:t>
                      </a:r>
                      <a:pPr indent="0" marL="0">
                        <a:buNone/>
                      </a:pPr>
                      <a:r>
                        <a:rPr lang="en-US" sz="950" dirty="0">
                          <a:solidFill>
                            <a:srgbClr val="0F1E3D"/>
                          </a:solidFill>
                          <a:latin typeface="Calibri" pitchFamily="34" charset="0"/>
                          <a:ea typeface="Calibri" pitchFamily="34" charset="-122"/>
                          <a:cs typeface="Calibri" pitchFamily="34" charset="-120"/>
                        </a:rPr>
                        <a:t>البيئة، </a:t>
                      </a:r>
                      <a:pPr indent="0" marL="0">
                        <a:buNone/>
                      </a:pPr>
                      <a:r>
                        <a:rPr lang="en-US" sz="950" dirty="0">
                          <a:solidFill>
                            <a:srgbClr val="0F1E3D"/>
                          </a:solidFill>
                          <a:latin typeface="Calibri" pitchFamily="34" charset="0"/>
                          <a:ea typeface="Calibri" pitchFamily="34" charset="-122"/>
                          <a:cs typeface="Calibri" pitchFamily="34" charset="-120"/>
                        </a:rPr>
                        <a:t>التمكين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sustainability@sabic.com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920000020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الاستدامة </a:t>
                      </a:r>
                      <a:pPr indent="0" marL="0">
                        <a:buNone/>
                      </a:pPr>
                      <a:r>
                        <a:rPr lang="en-US" sz="950" dirty="0">
                          <a:solidFill>
                            <a:srgbClr val="0F1E3D"/>
                          </a:solidFill>
                          <a:latin typeface="Calibri" pitchFamily="34" charset="0"/>
                          <a:ea typeface="Calibri" pitchFamily="34" charset="-122"/>
                          <a:cs typeface="Calibri" pitchFamily="34" charset="-120"/>
                        </a:rPr>
                        <a:t>والمواطنة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بتروكيماويات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سابك </a:t>
                      </a:r>
                      <a:pPr indent="0" marL="0">
                        <a:buNone/>
                      </a:pPr>
                      <a:r>
                        <a:rPr lang="en-US" sz="950" dirty="0">
                          <a:solidFill>
                            <a:srgbClr val="0F1E3D"/>
                          </a:solidFill>
                          <a:latin typeface="Calibri" pitchFamily="34" charset="0"/>
                          <a:ea typeface="Calibri" pitchFamily="34" charset="-122"/>
                          <a:cs typeface="Calibri" pitchFamily="34" charset="-120"/>
                        </a:rPr>
                        <a:t>(SABIC)</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موزع </a:t>
                      </a:r>
                      <a:pPr indent="0" marL="0">
                        <a:buNone/>
                      </a:pPr>
                      <a:r>
                        <a:rPr lang="en-US" sz="950" dirty="0">
                          <a:solidFill>
                            <a:srgbClr val="0F1E3D"/>
                          </a:solidFill>
                          <a:latin typeface="Calibri" pitchFamily="34" charset="0"/>
                          <a:ea typeface="Calibri" pitchFamily="34" charset="-122"/>
                          <a:cs typeface="Calibri" pitchFamily="34" charset="-120"/>
                        </a:rPr>
                        <a:t>الكهرباء </a:t>
                      </a:r>
                      <a:pPr indent="0" marL="0">
                        <a:buNone/>
                      </a:pPr>
                      <a:r>
                        <a:rPr lang="en-US" sz="950" dirty="0">
                          <a:solidFill>
                            <a:srgbClr val="0F1E3D"/>
                          </a:solidFill>
                          <a:latin typeface="Calibri" pitchFamily="34" charset="0"/>
                          <a:ea typeface="Calibri" pitchFamily="34" charset="-122"/>
                          <a:cs typeface="Calibri" pitchFamily="34" charset="-120"/>
                        </a:rPr>
                        <a:t>الرئيسي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الترشيد، </a:t>
                      </a:r>
                      <a:pPr indent="0" marL="0">
                        <a:buNone/>
                      </a:pPr>
                      <a:r>
                        <a:rPr lang="en-US" sz="950" dirty="0">
                          <a:solidFill>
                            <a:srgbClr val="0F1E3D"/>
                          </a:solidFill>
                          <a:latin typeface="Calibri" pitchFamily="34" charset="0"/>
                          <a:ea typeface="Calibri" pitchFamily="34" charset="-122"/>
                          <a:cs typeface="Calibri" pitchFamily="34" charset="-120"/>
                        </a:rPr>
                        <a:t>البيئة، </a:t>
                      </a:r>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csr@se.com.sa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920001100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طاقة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الشركة </a:t>
                      </a:r>
                      <a:pPr indent="0" marL="0">
                        <a:buNone/>
                      </a:pPr>
                      <a:r>
                        <a:rPr lang="en-US" sz="950" dirty="0">
                          <a:solidFill>
                            <a:srgbClr val="0F1E3D"/>
                          </a:solidFill>
                          <a:latin typeface="Calibri" pitchFamily="34" charset="0"/>
                          <a:ea typeface="Calibri" pitchFamily="34" charset="-122"/>
                          <a:cs typeface="Calibri" pitchFamily="34" charset="-120"/>
                        </a:rPr>
                        <a:t>السعودية </a:t>
                      </a:r>
                      <a:pPr indent="0" marL="0">
                        <a:buNone/>
                      </a:pPr>
                      <a:r>
                        <a:rPr lang="en-US" sz="950" dirty="0">
                          <a:solidFill>
                            <a:srgbClr val="0F1E3D"/>
                          </a:solidFill>
                          <a:latin typeface="Calibri" pitchFamily="34" charset="0"/>
                          <a:ea typeface="Calibri" pitchFamily="34" charset="-122"/>
                          <a:cs typeface="Calibri" pitchFamily="34" charset="-120"/>
                        </a:rPr>
                        <a:t>للكهرباء</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تأمين </a:t>
                      </a:r>
                      <a:pPr indent="0" marL="0">
                        <a:buNone/>
                      </a:pPr>
                      <a:r>
                        <a:rPr lang="en-US" sz="950" dirty="0">
                          <a:solidFill>
                            <a:srgbClr val="0F1E3D"/>
                          </a:solidFill>
                          <a:latin typeface="Calibri" pitchFamily="34" charset="0"/>
                          <a:ea typeface="Calibri" pitchFamily="34" charset="-122"/>
                          <a:cs typeface="Calibri" pitchFamily="34" charset="-120"/>
                        </a:rPr>
                        <a:t>بالمملكة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السلامة، </a:t>
                      </a:r>
                      <a:pPr indent="0" marL="0">
                        <a:buNone/>
                      </a:pPr>
                      <a:r>
                        <a:rPr lang="en-US" sz="950" dirty="0">
                          <a:solidFill>
                            <a:srgbClr val="0F1E3D"/>
                          </a:solidFill>
                          <a:latin typeface="Calibri" pitchFamily="34" charset="0"/>
                          <a:ea typeface="Calibri" pitchFamily="34" charset="-122"/>
                          <a:cs typeface="Calibri" pitchFamily="34" charset="-120"/>
                        </a:rPr>
                        <a:t>الأسرة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csr@tawuniya.com.sa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920019990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تأمين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التعاونية </a:t>
                      </a:r>
                      <a:pPr indent="0" marL="0">
                        <a:buNone/>
                      </a:pPr>
                      <a:r>
                        <a:rPr lang="en-US" sz="950" dirty="0">
                          <a:solidFill>
                            <a:srgbClr val="0F1E3D"/>
                          </a:solidFill>
                          <a:latin typeface="Calibri" pitchFamily="34" charset="0"/>
                          <a:ea typeface="Calibri" pitchFamily="34" charset="-122"/>
                          <a:cs typeface="Calibri" pitchFamily="34" charset="-120"/>
                        </a:rPr>
                        <a:t>للتأمين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تركز </a:t>
                      </a:r>
                      <a:pPr indent="0" marL="0">
                        <a:buNone/>
                      </a:pPr>
                      <a:r>
                        <a:rPr lang="en-US" sz="950" dirty="0">
                          <a:solidFill>
                            <a:srgbClr val="0F1E3D"/>
                          </a:solidFill>
                          <a:latin typeface="Calibri" pitchFamily="34" charset="0"/>
                          <a:ea typeface="Calibri" pitchFamily="34" charset="-122"/>
                          <a:cs typeface="Calibri" pitchFamily="34" charset="-120"/>
                        </a:rPr>
                        <a:t>على </a:t>
                      </a:r>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العامة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العامة، </a:t>
                      </a:r>
                      <a:pPr indent="0" marL="0">
                        <a:buNone/>
                      </a:pPr>
                      <a:r>
                        <a:rPr lang="en-US" sz="950" dirty="0">
                          <a:solidFill>
                            <a:srgbClr val="0F1E3D"/>
                          </a:solidFill>
                          <a:latin typeface="Calibri" pitchFamily="34" charset="0"/>
                          <a:ea typeface="Calibri" pitchFamily="34" charset="-122"/>
                          <a:cs typeface="Calibri" pitchFamily="34" charset="-120"/>
                        </a:rPr>
                        <a:t>الوقاية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csr@bupa.com.sa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920003344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تأمين </a:t>
                      </a:r>
                      <a:pPr indent="0" marL="0">
                        <a:buNone/>
                      </a:pPr>
                      <a:r>
                        <a:rPr lang="en-US" sz="950" dirty="0">
                          <a:solidFill>
                            <a:srgbClr val="0F1E3D"/>
                          </a:solidFill>
                          <a:latin typeface="Calibri" pitchFamily="34" charset="0"/>
                          <a:ea typeface="Calibri" pitchFamily="34" charset="-122"/>
                          <a:cs typeface="Calibri" pitchFamily="34" charset="-120"/>
                        </a:rPr>
                        <a:t>صحي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بوبا </a:t>
                      </a:r>
                      <a:pPr indent="0" marL="0">
                        <a:buNone/>
                      </a:pPr>
                      <a:r>
                        <a:rPr lang="en-US" sz="950" dirty="0">
                          <a:solidFill>
                            <a:srgbClr val="0F1E3D"/>
                          </a:solidFill>
                          <a:latin typeface="Calibri" pitchFamily="34" charset="0"/>
                          <a:ea typeface="Calibri" pitchFamily="34" charset="-122"/>
                          <a:cs typeface="Calibri" pitchFamily="34" charset="-120"/>
                        </a:rPr>
                        <a:t>العربية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ألبان </a:t>
                      </a:r>
                      <a:pPr indent="0" marL="0">
                        <a:buNone/>
                      </a:pPr>
                      <a:r>
                        <a:rPr lang="en-US" sz="950" dirty="0">
                          <a:solidFill>
                            <a:srgbClr val="0F1E3D"/>
                          </a:solidFill>
                          <a:latin typeface="Calibri" pitchFamily="34" charset="0"/>
                          <a:ea typeface="Calibri" pitchFamily="34" charset="-122"/>
                          <a:cs typeface="Calibri" pitchFamily="34" charset="-120"/>
                        </a:rPr>
                        <a:t>بالمنطقة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 </a:t>
                      </a:r>
                      <a:pPr indent="0" marL="0">
                        <a:buNone/>
                      </a:pPr>
                      <a:r>
                        <a:rPr lang="en-US" sz="950" dirty="0">
                          <a:solidFill>
                            <a:srgbClr val="0F1E3D"/>
                          </a:solidFill>
                          <a:latin typeface="Calibri" pitchFamily="34" charset="0"/>
                          <a:ea typeface="Calibri" pitchFamily="34" charset="-122"/>
                          <a:cs typeface="Calibri" pitchFamily="34" charset="-120"/>
                        </a:rPr>
                        <a:t>وعينية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الأمن </a:t>
                      </a:r>
                      <a:pPr indent="0" marL="0">
                        <a:buNone/>
                      </a:pPr>
                      <a:r>
                        <a:rPr lang="en-US" sz="950" dirty="0">
                          <a:solidFill>
                            <a:srgbClr val="0F1E3D"/>
                          </a:solidFill>
                          <a:latin typeface="Calibri" pitchFamily="34" charset="0"/>
                          <a:ea typeface="Calibri" pitchFamily="34" charset="-122"/>
                          <a:cs typeface="Calibri" pitchFamily="34" charset="-120"/>
                        </a:rPr>
                        <a:t>الغذائي، </a:t>
                      </a:r>
                      <a:pPr indent="0" marL="0">
                        <a:buNone/>
                      </a:pPr>
                      <a:r>
                        <a:rPr lang="en-US" sz="950" dirty="0">
                          <a:solidFill>
                            <a:srgbClr val="0F1E3D"/>
                          </a:solidFill>
                          <a:latin typeface="Calibri" pitchFamily="34" charset="0"/>
                          <a:ea typeface="Calibri" pitchFamily="34" charset="-122"/>
                          <a:cs typeface="Calibri" pitchFamily="34" charset="-120"/>
                        </a:rPr>
                        <a:t>التغذية، </a:t>
                      </a:r>
                      <a:pPr indent="0" marL="0">
                        <a:buNone/>
                      </a:pPr>
                      <a:r>
                        <a:rPr lang="en-US" sz="950" dirty="0">
                          <a:solidFill>
                            <a:srgbClr val="0F1E3D"/>
                          </a:solidFill>
                          <a:latin typeface="Calibri" pitchFamily="34" charset="0"/>
                          <a:ea typeface="Calibri" pitchFamily="34" charset="-122"/>
                          <a:cs typeface="Calibri" pitchFamily="34" charset="-120"/>
                        </a:rPr>
                        <a:t>الأسر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csr@almarai.com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920004966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الاستدامة </a:t>
                      </a:r>
                      <a:pPr indent="0" marL="0">
                        <a:buNone/>
                      </a:pPr>
                      <a:r>
                        <a:rPr lang="en-US" sz="950" dirty="0">
                          <a:solidFill>
                            <a:srgbClr val="0F1E3D"/>
                          </a:solidFill>
                          <a:latin typeface="Calibri" pitchFamily="34" charset="0"/>
                          <a:ea typeface="Calibri" pitchFamily="34" charset="-122"/>
                          <a:cs typeface="Calibri" pitchFamily="34" charset="-120"/>
                        </a:rPr>
                        <a:t>والمواطنة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أغذية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المراعي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تدعم </a:t>
                      </a:r>
                      <a:pPr indent="0" marL="0">
                        <a:buNone/>
                      </a:pPr>
                      <a:r>
                        <a:rPr lang="en-US" sz="950" dirty="0">
                          <a:solidFill>
                            <a:srgbClr val="0F1E3D"/>
                          </a:solidFill>
                          <a:latin typeface="Calibri" pitchFamily="34" charset="0"/>
                          <a:ea typeface="Calibri" pitchFamily="34" charset="-122"/>
                          <a:cs typeface="Calibri" pitchFamily="34" charset="-120"/>
                        </a:rPr>
                        <a:t>البرامج </a:t>
                      </a:r>
                      <a:pPr indent="0" marL="0">
                        <a:buNone/>
                      </a:pPr>
                      <a:r>
                        <a:rPr lang="en-US" sz="950" dirty="0">
                          <a:solidFill>
                            <a:srgbClr val="0F1E3D"/>
                          </a:solidFill>
                          <a:latin typeface="Calibri" pitchFamily="34" charset="0"/>
                          <a:ea typeface="Calibri" pitchFamily="34" charset="-122"/>
                          <a:cs typeface="Calibri" pitchFamily="34" charset="-120"/>
                        </a:rPr>
                        <a:t>الغذائية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تبرعات </a:t>
                      </a:r>
                      <a:pPr indent="0" marL="0">
                        <a:buNone/>
                      </a:pPr>
                      <a:r>
                        <a:rPr lang="en-US" sz="950" dirty="0">
                          <a:solidFill>
                            <a:srgbClr val="0F1E3D"/>
                          </a:solidFill>
                          <a:latin typeface="Calibri" pitchFamily="34" charset="0"/>
                          <a:ea typeface="Calibri" pitchFamily="34" charset="-122"/>
                          <a:cs typeface="Calibri" pitchFamily="34" charset="-120"/>
                        </a:rPr>
                        <a:t>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التغذية، </a:t>
                      </a:r>
                      <a:pPr indent="0" marL="0">
                        <a:buNone/>
                      </a:pPr>
                      <a:r>
                        <a:rPr lang="en-US" sz="950" dirty="0">
                          <a:solidFill>
                            <a:srgbClr val="0F1E3D"/>
                          </a:solidFill>
                          <a:latin typeface="Calibri" pitchFamily="34" charset="0"/>
                          <a:ea typeface="Calibri" pitchFamily="34" charset="-122"/>
                          <a:cs typeface="Calibri" pitchFamily="34" charset="-120"/>
                        </a:rPr>
                        <a:t>الإغاثة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csr@sadafco.com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012-6377455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أغذية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سدافكو</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سلسلة </a:t>
                      </a:r>
                      <a:pPr indent="0" marL="0">
                        <a:buNone/>
                      </a:pPr>
                      <a:r>
                        <a:rPr lang="en-US" sz="950" dirty="0">
                          <a:solidFill>
                            <a:srgbClr val="0F1E3D"/>
                          </a:solidFill>
                          <a:latin typeface="Calibri" pitchFamily="34" charset="0"/>
                          <a:ea typeface="Calibri" pitchFamily="34" charset="-122"/>
                          <a:cs typeface="Calibri" pitchFamily="34" charset="-120"/>
                        </a:rPr>
                        <a:t>هايبر </a:t>
                      </a:r>
                      <a:pPr indent="0" marL="0">
                        <a:buNone/>
                      </a:pPr>
                      <a:r>
                        <a:rPr lang="en-US" sz="950" dirty="0">
                          <a:solidFill>
                            <a:srgbClr val="0F1E3D"/>
                          </a:solidFill>
                          <a:latin typeface="Calibri" pitchFamily="34" charset="0"/>
                          <a:ea typeface="Calibri" pitchFamily="34" charset="-122"/>
                          <a:cs typeface="Calibri" pitchFamily="34" charset="-120"/>
                        </a:rPr>
                        <a:t>ماركت </a:t>
                      </a:r>
                      <a:pPr indent="0" marL="0">
                        <a:buNone/>
                      </a:pPr>
                      <a:r>
                        <a:rPr lang="en-US" sz="950" dirty="0">
                          <a:solidFill>
                            <a:srgbClr val="0F1E3D"/>
                          </a:solidFill>
                          <a:latin typeface="Calibri" pitchFamily="34" charset="0"/>
                          <a:ea typeface="Calibri" pitchFamily="34" charset="-122"/>
                          <a:cs typeface="Calibri" pitchFamily="34" charset="-120"/>
                        </a:rPr>
                        <a:t>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وتبرعات </a:t>
                      </a:r>
                      <a:pPr indent="0" marL="0">
                        <a:buNone/>
                      </a:pPr>
                      <a:r>
                        <a:rPr lang="en-US" sz="950" dirty="0">
                          <a:solidFill>
                            <a:srgbClr val="0F1E3D"/>
                          </a:solidFill>
                          <a:latin typeface="Calibri" pitchFamily="34" charset="0"/>
                          <a:ea typeface="Calibri" pitchFamily="34" charset="-122"/>
                          <a:cs typeface="Calibri" pitchFamily="34" charset="-120"/>
                        </a:rPr>
                        <a:t>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الأمن </a:t>
                      </a:r>
                      <a:pPr indent="0" marL="0">
                        <a:buNone/>
                      </a:pPr>
                      <a:r>
                        <a:rPr lang="en-US" sz="950" dirty="0">
                          <a:solidFill>
                            <a:srgbClr val="0F1E3D"/>
                          </a:solidFill>
                          <a:latin typeface="Calibri" pitchFamily="34" charset="0"/>
                          <a:ea typeface="Calibri" pitchFamily="34" charset="-122"/>
                          <a:cs typeface="Calibri" pitchFamily="34" charset="-120"/>
                        </a:rPr>
                        <a:t>الغذائي، </a:t>
                      </a:r>
                      <a:pPr indent="0" marL="0">
                        <a:buNone/>
                      </a:pPr>
                      <a:r>
                        <a:rPr lang="en-US" sz="950" dirty="0">
                          <a:solidFill>
                            <a:srgbClr val="0F1E3D"/>
                          </a:solidFill>
                          <a:latin typeface="Calibri" pitchFamily="34" charset="0"/>
                          <a:ea typeface="Calibri" pitchFamily="34" charset="-122"/>
                          <a:cs typeface="Calibri" pitchFamily="34" charset="-120"/>
                        </a:rPr>
                        <a:t>الأسر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csr@othaim.com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920000088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المجتمع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تجزئة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العثيم </a:t>
                      </a:r>
                      <a:pPr indent="0" marL="0">
                        <a:buNone/>
                      </a:pPr>
                      <a:r>
                        <a:rPr lang="en-US" sz="950" dirty="0">
                          <a:solidFill>
                            <a:srgbClr val="0F1E3D"/>
                          </a:solidFill>
                          <a:latin typeface="Calibri" pitchFamily="34" charset="0"/>
                          <a:ea typeface="Calibri" pitchFamily="34" charset="-122"/>
                          <a:cs typeface="Calibri" pitchFamily="34" charset="-120"/>
                        </a:rPr>
                        <a:t>القابضة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تدعم </a:t>
                      </a:r>
                      <a:pPr indent="0" marL="0">
                        <a:buNone/>
                      </a:pPr>
                      <a:r>
                        <a:rPr lang="en-US" sz="950" dirty="0">
                          <a:solidFill>
                            <a:srgbClr val="0F1E3D"/>
                          </a:solidFill>
                          <a:latin typeface="Calibri" pitchFamily="34" charset="0"/>
                          <a:ea typeface="Calibri" pitchFamily="34" charset="-122"/>
                          <a:cs typeface="Calibri" pitchFamily="34" charset="-120"/>
                        </a:rPr>
                        <a:t>البرامج </a:t>
                      </a:r>
                      <a:pPr indent="0" marL="0">
                        <a:buNone/>
                      </a:pPr>
                      <a:r>
                        <a:rPr lang="en-US" sz="950" dirty="0">
                          <a:solidFill>
                            <a:srgbClr val="0F1E3D"/>
                          </a:solidFill>
                          <a:latin typeface="Calibri" pitchFamily="34" charset="0"/>
                          <a:ea typeface="Calibri" pitchFamily="34" charset="-122"/>
                          <a:cs typeface="Calibri" pitchFamily="34" charset="-120"/>
                        </a:rPr>
                        <a:t>الموسمية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تبرعات </a:t>
                      </a:r>
                      <a:pPr indent="0" marL="0">
                        <a:buNone/>
                      </a:pPr>
                      <a:r>
                        <a:rPr lang="en-US" sz="950" dirty="0">
                          <a:solidFill>
                            <a:srgbClr val="0F1E3D"/>
                          </a:solidFill>
                          <a:latin typeface="Calibri" pitchFamily="34" charset="0"/>
                          <a:ea typeface="Calibri" pitchFamily="34" charset="-122"/>
                          <a:cs typeface="Calibri" pitchFamily="34" charset="-120"/>
                        </a:rPr>
                        <a:t>عينية </a:t>
                      </a:r>
                      <a:pPr indent="0" marL="0">
                        <a:buNone/>
                      </a:pPr>
                      <a:r>
                        <a:rPr lang="en-US" sz="950" dirty="0">
                          <a:solidFill>
                            <a:srgbClr val="0F1E3D"/>
                          </a:solidFill>
                          <a:latin typeface="Calibri" pitchFamily="34" charset="0"/>
                          <a:ea typeface="Calibri" pitchFamily="34" charset="-122"/>
                          <a:cs typeface="Calibri" pitchFamily="34" charset="-120"/>
                        </a:rPr>
                        <a:t>ونقدية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الأمن </a:t>
                      </a:r>
                      <a:pPr indent="0" marL="0">
                        <a:buNone/>
                      </a:pPr>
                      <a:r>
                        <a:rPr lang="en-US" sz="950" dirty="0">
                          <a:solidFill>
                            <a:srgbClr val="0F1E3D"/>
                          </a:solidFill>
                          <a:latin typeface="Calibri" pitchFamily="34" charset="0"/>
                          <a:ea typeface="Calibri" pitchFamily="34" charset="-122"/>
                          <a:cs typeface="Calibri" pitchFamily="34" charset="-120"/>
                        </a:rPr>
                        <a:t>الغذائي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csr@panda.com.sa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920000084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تجزئة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بنده </a:t>
                      </a:r>
                      <a:pPr indent="0" marL="0">
                        <a:buNone/>
                      </a:pPr>
                      <a:r>
                        <a:rPr lang="en-US" sz="950" dirty="0">
                          <a:solidFill>
                            <a:srgbClr val="0F1E3D"/>
                          </a:solidFill>
                          <a:latin typeface="Calibri" pitchFamily="34" charset="0"/>
                          <a:ea typeface="Calibri" pitchFamily="34" charset="-122"/>
                          <a:cs typeface="Calibri" pitchFamily="34" charset="-120"/>
                        </a:rPr>
                        <a:t>للتجزئة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29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تدعم </a:t>
                      </a:r>
                      <a:pPr indent="0" marL="0">
                        <a:buNone/>
                      </a:pPr>
                      <a:r>
                        <a:rPr lang="en-US" sz="950" dirty="0">
                          <a:solidFill>
                            <a:srgbClr val="0F1E3D"/>
                          </a:solidFill>
                          <a:latin typeface="Calibri" pitchFamily="34" charset="0"/>
                          <a:ea typeface="Calibri" pitchFamily="34" charset="-122"/>
                          <a:cs typeface="Calibri" pitchFamily="34" charset="-120"/>
                        </a:rPr>
                        <a:t>الأسر </a:t>
                      </a:r>
                      <a:pPr indent="0" marL="0">
                        <a:buNone/>
                      </a:pPr>
                      <a:r>
                        <a:rPr lang="en-US" sz="950" dirty="0">
                          <a:solidFill>
                            <a:srgbClr val="0F1E3D"/>
                          </a:solidFill>
                          <a:latin typeface="Calibri" pitchFamily="34" charset="0"/>
                          <a:ea typeface="Calibri" pitchFamily="34" charset="-122"/>
                          <a:cs typeface="Calibri" pitchFamily="34" charset="-120"/>
                        </a:rPr>
                        <a:t>المنتجة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الأسر </a:t>
                      </a:r>
                      <a:pPr indent="0" marL="0">
                        <a:buNone/>
                      </a:pPr>
                      <a:r>
                        <a:rPr lang="en-US" sz="950" dirty="0">
                          <a:solidFill>
                            <a:srgbClr val="0F1E3D"/>
                          </a:solidFill>
                          <a:latin typeface="Calibri" pitchFamily="34" charset="0"/>
                          <a:ea typeface="Calibri" pitchFamily="34" charset="-122"/>
                          <a:cs typeface="Calibri" pitchFamily="34" charset="-120"/>
                        </a:rPr>
                        <a:t>المنتجة، </a:t>
                      </a:r>
                      <a:pPr indent="0" marL="0">
                        <a:buNone/>
                      </a:pPr>
                      <a:r>
                        <a:rPr lang="en-US" sz="950" dirty="0">
                          <a:solidFill>
                            <a:srgbClr val="0F1E3D"/>
                          </a:solidFill>
                          <a:latin typeface="Calibri" pitchFamily="34" charset="0"/>
                          <a:ea typeface="Calibri" pitchFamily="34" charset="-122"/>
                          <a:cs typeface="Calibri" pitchFamily="34" charset="-120"/>
                        </a:rPr>
                        <a:t>السلال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csr@tamimimarkets.com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920002828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الخبر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تجزئة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أسواق </a:t>
                      </a:r>
                      <a:pPr indent="0" marL="0">
                        <a:buNone/>
                      </a:pPr>
                      <a:r>
                        <a:rPr lang="en-US" sz="950" dirty="0">
                          <a:solidFill>
                            <a:srgbClr val="0F1E3D"/>
                          </a:solidFill>
                          <a:latin typeface="Calibri" pitchFamily="34" charset="0"/>
                          <a:ea typeface="Calibri" pitchFamily="34" charset="-122"/>
                          <a:cs typeface="Calibri" pitchFamily="34" charset="-120"/>
                        </a:rPr>
                        <a:t>التميمي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رائدة </a:t>
                      </a:r>
                      <a:pPr indent="0" marL="0">
                        <a:buNone/>
                      </a:pPr>
                      <a:r>
                        <a:rPr lang="en-US" sz="950" dirty="0">
                          <a:solidFill>
                            <a:srgbClr val="0F1E3D"/>
                          </a:solidFill>
                          <a:latin typeface="Calibri" pitchFamily="34" charset="0"/>
                          <a:ea typeface="Calibri" pitchFamily="34" charset="-122"/>
                          <a:cs typeface="Calibri" pitchFamily="34" charset="-120"/>
                        </a:rPr>
                        <a:t>في </a:t>
                      </a:r>
                      <a:pPr indent="0" marL="0">
                        <a:buNone/>
                      </a:pPr>
                      <a:r>
                        <a:rPr lang="en-US" sz="950" dirty="0">
                          <a:solidFill>
                            <a:srgbClr val="0F1E3D"/>
                          </a:solidFill>
                          <a:latin typeface="Calibri" pitchFamily="34" charset="0"/>
                          <a:ea typeface="Calibri" pitchFamily="34" charset="-122"/>
                          <a:cs typeface="Calibri" pitchFamily="34" charset="-120"/>
                        </a:rPr>
                        <a:t>الاستدامة </a:t>
                      </a:r>
                      <a:pPr indent="0" marL="0">
                        <a:buNone/>
                      </a:pPr>
                      <a:r>
                        <a:rPr lang="en-US" sz="950" dirty="0">
                          <a:solidFill>
                            <a:srgbClr val="0F1E3D"/>
                          </a:solidFill>
                          <a:latin typeface="Calibri" pitchFamily="34" charset="0"/>
                          <a:ea typeface="Calibri" pitchFamily="34" charset="-122"/>
                          <a:cs typeface="Calibri" pitchFamily="34" charset="-120"/>
                        </a:rPr>
                        <a:t>الغذائية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التغذية، </a:t>
                      </a:r>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الاقتصادي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sustainability@savola.com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012-6976888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الاستدامة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أغذية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سافولا</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31</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مطاعم </a:t>
                      </a:r>
                      <a:pPr indent="0" marL="0">
                        <a:buNone/>
                      </a:pPr>
                      <a:r>
                        <a:rPr lang="en-US" sz="950" dirty="0">
                          <a:solidFill>
                            <a:srgbClr val="0F1E3D"/>
                          </a:solidFill>
                          <a:latin typeface="Calibri" pitchFamily="34" charset="0"/>
                          <a:ea typeface="Calibri" pitchFamily="34" charset="-122"/>
                          <a:cs typeface="Calibri" pitchFamily="34" charset="-120"/>
                        </a:rPr>
                        <a:t>وطنية </a:t>
                      </a:r>
                      <a:pPr indent="0" marL="0">
                        <a:buNone/>
                      </a:pPr>
                      <a:r>
                        <a:rPr lang="en-US" sz="950" dirty="0">
                          <a:solidFill>
                            <a:srgbClr val="0F1E3D"/>
                          </a:solidFill>
                          <a:latin typeface="Calibri" pitchFamily="34" charset="0"/>
                          <a:ea typeface="Calibri" pitchFamily="34" charset="-122"/>
                          <a:cs typeface="Calibri" pitchFamily="34" charset="-120"/>
                        </a:rPr>
                        <a:t>رائدة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تبرعات </a:t>
                      </a:r>
                      <a:pPr indent="0" marL="0">
                        <a:buNone/>
                      </a:pPr>
                      <a:r>
                        <a:rPr lang="en-US" sz="950" dirty="0">
                          <a:solidFill>
                            <a:srgbClr val="0F1E3D"/>
                          </a:solidFill>
                          <a:latin typeface="Calibri" pitchFamily="34" charset="0"/>
                          <a:ea typeface="Calibri" pitchFamily="34" charset="-122"/>
                          <a:cs typeface="Calibri" pitchFamily="34" charset="-120"/>
                        </a:rPr>
                        <a:t>عينية </a:t>
                      </a:r>
                      <a:pPr indent="0" marL="0">
                        <a:buNone/>
                      </a:pPr>
                      <a:r>
                        <a:rPr lang="en-US" sz="950" dirty="0">
                          <a:solidFill>
                            <a:srgbClr val="0F1E3D"/>
                          </a:solidFill>
                          <a:latin typeface="Calibri" pitchFamily="34" charset="0"/>
                          <a:ea typeface="Calibri" pitchFamily="34" charset="-122"/>
                          <a:cs typeface="Calibri" pitchFamily="34" charset="-120"/>
                        </a:rPr>
                        <a:t>وشراكات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إفطار </a:t>
                      </a:r>
                      <a:pPr indent="0" marL="0">
                        <a:buNone/>
                      </a:pPr>
                      <a:r>
                        <a:rPr lang="en-US" sz="950" dirty="0">
                          <a:solidFill>
                            <a:srgbClr val="0F1E3D"/>
                          </a:solidFill>
                          <a:latin typeface="Calibri" pitchFamily="34" charset="0"/>
                          <a:ea typeface="Calibri" pitchFamily="34" charset="-122"/>
                          <a:cs typeface="Calibri" pitchFamily="34" charset="-120"/>
                        </a:rPr>
                        <a:t>الصائم، </a:t>
                      </a:r>
                      <a:pPr indent="0" marL="0">
                        <a:buNone/>
                      </a:pPr>
                      <a:r>
                        <a:rPr lang="en-US" sz="950" dirty="0">
                          <a:solidFill>
                            <a:srgbClr val="0F1E3D"/>
                          </a:solidFill>
                          <a:latin typeface="Calibri" pitchFamily="34" charset="0"/>
                          <a:ea typeface="Calibri" pitchFamily="34" charset="-122"/>
                          <a:cs typeface="Calibri" pitchFamily="34" charset="-120"/>
                        </a:rPr>
                        <a:t>الأيتام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csr@herfy.com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920004422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أغذية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هرفي </a:t>
                      </a:r>
                      <a:pPr indent="0" marL="0">
                        <a:buNone/>
                      </a:pPr>
                      <a:r>
                        <a:rPr lang="en-US" sz="950" dirty="0">
                          <a:solidFill>
                            <a:srgbClr val="0F1E3D"/>
                          </a:solidFill>
                          <a:latin typeface="Calibri" pitchFamily="34" charset="0"/>
                          <a:ea typeface="Calibri" pitchFamily="34" charset="-122"/>
                          <a:cs typeface="Calibri" pitchFamily="34" charset="-120"/>
                        </a:rPr>
                        <a:t>للخدمات </a:t>
                      </a:r>
                      <a:pPr indent="0" marL="0">
                        <a:buNone/>
                      </a:pPr>
                      <a:r>
                        <a:rPr lang="en-US" sz="950" dirty="0">
                          <a:solidFill>
                            <a:srgbClr val="0F1E3D"/>
                          </a:solidFill>
                          <a:latin typeface="Calibri" pitchFamily="34" charset="0"/>
                          <a:ea typeface="Calibri" pitchFamily="34" charset="-122"/>
                          <a:cs typeface="Calibri" pitchFamily="34" charset="-120"/>
                        </a:rPr>
                        <a:t>الغذائية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عقارية </a:t>
                      </a:r>
                      <a:pPr indent="0" marL="0">
                        <a:buNone/>
                      </a:pPr>
                      <a:r>
                        <a:rPr lang="en-US" sz="950" dirty="0">
                          <a:solidFill>
                            <a:srgbClr val="0F1E3D"/>
                          </a:solidFill>
                          <a:latin typeface="Calibri" pitchFamily="34" charset="0"/>
                          <a:ea typeface="Calibri" pitchFamily="34" charset="-122"/>
                          <a:cs typeface="Calibri" pitchFamily="34" charset="-120"/>
                        </a:rPr>
                        <a:t>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الإسكان، </a:t>
                      </a:r>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csr@daralarkan.com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920003366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المؤسسية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عقارات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دار </a:t>
                      </a:r>
                      <a:pPr indent="0" marL="0">
                        <a:buNone/>
                      </a:pPr>
                      <a:r>
                        <a:rPr lang="en-US" sz="950" dirty="0">
                          <a:solidFill>
                            <a:srgbClr val="0F1E3D"/>
                          </a:solidFill>
                          <a:latin typeface="Calibri" pitchFamily="34" charset="0"/>
                          <a:ea typeface="Calibri" pitchFamily="34" charset="-122"/>
                          <a:cs typeface="Calibri" pitchFamily="34" charset="-120"/>
                        </a:rPr>
                        <a:t>الأركان </a:t>
                      </a:r>
                      <a:pPr indent="0" marL="0">
                        <a:buNone/>
                      </a:pPr>
                      <a:r>
                        <a:rPr lang="en-US" sz="950" dirty="0">
                          <a:solidFill>
                            <a:srgbClr val="0F1E3D"/>
                          </a:solidFill>
                          <a:latin typeface="Calibri" pitchFamily="34" charset="0"/>
                          <a:ea typeface="Calibri" pitchFamily="34" charset="-122"/>
                          <a:cs typeface="Calibri" pitchFamily="34" charset="-120"/>
                        </a:rPr>
                        <a:t>للتطوير </a:t>
                      </a:r>
                      <a:pPr indent="0" marL="0">
                        <a:buNone/>
                      </a:pPr>
                      <a:r>
                        <a:rPr lang="en-US" sz="950" dirty="0">
                          <a:solidFill>
                            <a:srgbClr val="0F1E3D"/>
                          </a:solidFill>
                          <a:latin typeface="Calibri" pitchFamily="34" charset="0"/>
                          <a:ea typeface="Calibri" pitchFamily="34" charset="-122"/>
                          <a:cs typeface="Calibri" pitchFamily="34" charset="-120"/>
                        </a:rPr>
                        <a:t>العقاري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رائدة </a:t>
                      </a:r>
                      <a:pPr indent="0" marL="0">
                        <a:buNone/>
                      </a:pPr>
                      <a:r>
                        <a:rPr lang="en-US" sz="950" dirty="0">
                          <a:solidFill>
                            <a:srgbClr val="0F1E3D"/>
                          </a:solidFill>
                          <a:latin typeface="Calibri" pitchFamily="34" charset="0"/>
                          <a:ea typeface="Calibri" pitchFamily="34" charset="-122"/>
                          <a:cs typeface="Calibri" pitchFamily="34" charset="-120"/>
                        </a:rPr>
                        <a:t>في </a:t>
                      </a:r>
                      <a:pPr indent="0" marL="0">
                        <a:buNone/>
                      </a:pPr>
                      <a:r>
                        <a:rPr lang="en-US" sz="950" dirty="0">
                          <a:solidFill>
                            <a:srgbClr val="0F1E3D"/>
                          </a:solidFill>
                          <a:latin typeface="Calibri" pitchFamily="34" charset="0"/>
                          <a:ea typeface="Calibri" pitchFamily="34" charset="-122"/>
                          <a:cs typeface="Calibri" pitchFamily="34" charset="-120"/>
                        </a:rPr>
                        <a:t>صناعة </a:t>
                      </a:r>
                      <a:pPr indent="0" marL="0">
                        <a:buNone/>
                      </a:pPr>
                      <a:r>
                        <a:rPr lang="en-US" sz="950" dirty="0">
                          <a:solidFill>
                            <a:srgbClr val="0F1E3D"/>
                          </a:solidFill>
                          <a:latin typeface="Calibri" pitchFamily="34" charset="0"/>
                          <a:ea typeface="Calibri" pitchFamily="34" charset="-122"/>
                          <a:cs typeface="Calibri" pitchFamily="34" charset="-120"/>
                        </a:rPr>
                        <a:t>الإسمنت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البنية </a:t>
                      </a:r>
                      <a:pPr indent="0" marL="0">
                        <a:buNone/>
                      </a:pPr>
                      <a:r>
                        <a:rPr lang="en-US" sz="950" dirty="0">
                          <a:solidFill>
                            <a:srgbClr val="0F1E3D"/>
                          </a:solidFill>
                          <a:latin typeface="Calibri" pitchFamily="34" charset="0"/>
                          <a:ea typeface="Calibri" pitchFamily="34" charset="-122"/>
                          <a:cs typeface="Calibri" pitchFamily="34" charset="-120"/>
                        </a:rPr>
                        <a:t>التحتية، </a:t>
                      </a:r>
                      <a:pPr indent="0" marL="0">
                        <a:buNone/>
                      </a:pPr>
                      <a:r>
                        <a:rPr lang="en-US" sz="950" dirty="0">
                          <a:solidFill>
                            <a:srgbClr val="0F1E3D"/>
                          </a:solidFill>
                          <a:latin typeface="Calibri" pitchFamily="34" charset="0"/>
                          <a:ea typeface="Calibri" pitchFamily="34" charset="-122"/>
                          <a:cs typeface="Calibri" pitchFamily="34" charset="-120"/>
                        </a:rPr>
                        <a:t>الترميم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csr@saudicement.com.sa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011-4789900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صناعة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الإسمنت </a:t>
                      </a:r>
                      <a:pPr indent="0" marL="0">
                        <a:buNone/>
                      </a:pPr>
                      <a:r>
                        <a:rPr lang="en-US" sz="950" dirty="0">
                          <a:solidFill>
                            <a:srgbClr val="0F1E3D"/>
                          </a:solidFill>
                          <a:latin typeface="Calibri" pitchFamily="34" charset="0"/>
                          <a:ea typeface="Calibri" pitchFamily="34" charset="-122"/>
                          <a:cs typeface="Calibri" pitchFamily="34" charset="-120"/>
                        </a:rPr>
                        <a:t>السعودية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قابضة </a:t>
                      </a:r>
                      <a:pPr indent="0" marL="0">
                        <a:buNone/>
                      </a:pPr>
                      <a:r>
                        <a:rPr lang="en-US" sz="950" dirty="0">
                          <a:solidFill>
                            <a:srgbClr val="0F1E3D"/>
                          </a:solidFill>
                          <a:latin typeface="Calibri" pitchFamily="34" charset="0"/>
                          <a:ea typeface="Calibri" pitchFamily="34" charset="-122"/>
                          <a:cs typeface="Calibri" pitchFamily="34" charset="-120"/>
                        </a:rPr>
                        <a:t>عالمية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تنوع، </a:t>
                      </a:r>
                      <a:pPr indent="0" marL="0">
                        <a:buNone/>
                      </a:pPr>
                      <a:r>
                        <a:rPr lang="en-US" sz="950" dirty="0">
                          <a:solidFill>
                            <a:srgbClr val="0F1E3D"/>
                          </a:solidFill>
                          <a:latin typeface="Calibri" pitchFamily="34" charset="0"/>
                          <a:ea typeface="Calibri" pitchFamily="34" charset="-122"/>
                          <a:cs typeface="Calibri" pitchFamily="34" charset="-120"/>
                        </a:rPr>
                        <a:t>تنمية، </a:t>
                      </a:r>
                      <a:pPr indent="0" marL="0">
                        <a:buNone/>
                      </a:pPr>
                      <a:r>
                        <a:rPr lang="en-US" sz="950" dirty="0">
                          <a:solidFill>
                            <a:srgbClr val="0F1E3D"/>
                          </a:solidFill>
                          <a:latin typeface="Calibri" pitchFamily="34" charset="0"/>
                          <a:ea typeface="Calibri" pitchFamily="34" charset="-122"/>
                          <a:cs typeface="Calibri" pitchFamily="34" charset="-120"/>
                        </a:rPr>
                        <a:t>إغاثة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partnerships@kingdom.com.sa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011-2112000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استثمار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المملكة </a:t>
                      </a:r>
                      <a:pPr indent="0" marL="0">
                        <a:buNone/>
                      </a:pPr>
                      <a:r>
                        <a:rPr lang="en-US" sz="950" dirty="0">
                          <a:solidFill>
                            <a:srgbClr val="0F1E3D"/>
                          </a:solidFill>
                          <a:latin typeface="Calibri" pitchFamily="34" charset="0"/>
                          <a:ea typeface="Calibri" pitchFamily="34" charset="-122"/>
                          <a:cs typeface="Calibri" pitchFamily="34" charset="-120"/>
                        </a:rPr>
                        <a:t>القابضة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تدير </a:t>
                      </a:r>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مراكز </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الأسرة، </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920022882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عقارات </a:t>
                      </a:r>
                      <a:pPr indent="0" marL="0">
                        <a:buNone/>
                      </a:pPr>
                      <a:r>
                        <a:rPr lang="en-US" sz="950" dirty="0">
                          <a:solidFill>
                            <a:srgbClr val="0F1E3D"/>
                          </a:solidFill>
                          <a:latin typeface="Calibri" pitchFamily="34" charset="0"/>
                          <a:ea typeface="Calibri" pitchFamily="34" charset="-122"/>
                          <a:cs typeface="Calibri" pitchFamily="34" charset="-120"/>
                        </a:rPr>
                        <a:t>تجارية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المراكز </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84048" y="457200"/>
          <a:ext cx="11430000" cy="914400"/>
        </p:xfrm>
        <a:graphic>
          <a:graphicData uri="http://schemas.openxmlformats.org/drawingml/2006/table">
            <a:tbl>
              <a:tblPr/>
              <a:tblGrid>
                <a:gridCol w="1143000"/>
                <a:gridCol w="1143000"/>
                <a:gridCol w="1143000"/>
                <a:gridCol w="1143000"/>
                <a:gridCol w="1143000"/>
                <a:gridCol w="1143000"/>
                <a:gridCol w="1143000"/>
                <a:gridCol w="1143000"/>
                <a:gridCol w="1143000"/>
                <a:gridCol w="1143000"/>
              </a:tblGrid>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التسوق</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الترفيه </a:t>
                      </a:r>
                      <a:pPr indent="0" marL="0">
                        <a:buNone/>
                      </a:pPr>
                      <a:r>
                        <a:rPr lang="en-US" sz="950" dirty="0">
                          <a:solidFill>
                            <a:srgbClr val="0F1E3D"/>
                          </a:solidFill>
                          <a:latin typeface="Calibri" pitchFamily="34" charset="0"/>
                          <a:ea typeface="Calibri" pitchFamily="34" charset="-122"/>
                          <a:cs typeface="Calibri" pitchFamily="34" charset="-120"/>
                        </a:rPr>
                        <a:t>الهادف</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csr@arabiancentres.com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العربية </a:t>
                      </a:r>
                      <a:pPr indent="0" marL="0">
                        <a:buNone/>
                      </a:pPr>
                      <a:r>
                        <a:rPr lang="en-US" sz="950" dirty="0">
                          <a:solidFill>
                            <a:srgbClr val="0F1E3D"/>
                          </a:solidFill>
                          <a:latin typeface="Calibri" pitchFamily="34" charset="0"/>
                          <a:ea typeface="Calibri" pitchFamily="34" charset="-122"/>
                          <a:cs typeface="Calibri" pitchFamily="34" charset="-120"/>
                        </a:rPr>
                        <a:t>(سيتي </a:t>
                      </a:r>
                      <a:pPr indent="0" marL="0">
                        <a:buNone/>
                      </a:pPr>
                      <a:r>
                        <a:rPr lang="en-US" sz="950" dirty="0">
                          <a:solidFill>
                            <a:srgbClr val="0F1E3D"/>
                          </a:solidFill>
                          <a:latin typeface="Calibri" pitchFamily="34" charset="0"/>
                          <a:ea typeface="Calibri" pitchFamily="34" charset="-122"/>
                          <a:cs typeface="Calibri" pitchFamily="34" charset="-120"/>
                        </a:rPr>
                        <a:t>ماكس)</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مزود </a:t>
                      </a:r>
                      <a:pPr indent="0" marL="0">
                        <a:buNone/>
                      </a:pPr>
                      <a:r>
                        <a:rPr lang="en-US" sz="950" dirty="0">
                          <a:solidFill>
                            <a:srgbClr val="0F1E3D"/>
                          </a:solidFill>
                          <a:latin typeface="Calibri" pitchFamily="34" charset="0"/>
                          <a:ea typeface="Calibri" pitchFamily="34" charset="-122"/>
                          <a:cs typeface="Calibri" pitchFamily="34" charset="-120"/>
                        </a:rPr>
                        <a:t>رعاية </a:t>
                      </a:r>
                      <a:pPr indent="0" marL="0">
                        <a:buNone/>
                      </a:pPr>
                      <a:r>
                        <a:rPr lang="en-US" sz="950" dirty="0">
                          <a:solidFill>
                            <a:srgbClr val="0F1E3D"/>
                          </a:solidFill>
                          <a:latin typeface="Calibri" pitchFamily="34" charset="0"/>
                          <a:ea typeface="Calibri" pitchFamily="34" charset="-122"/>
                          <a:cs typeface="Calibri" pitchFamily="34" charset="-120"/>
                        </a:rPr>
                        <a:t>صحية </a:t>
                      </a:r>
                      <a:pPr indent="0" marL="0">
                        <a:buNone/>
                      </a:pPr>
                      <a:r>
                        <a:rPr lang="en-US" sz="950" dirty="0">
                          <a:solidFill>
                            <a:srgbClr val="0F1E3D"/>
                          </a:solidFill>
                          <a:latin typeface="Calibri" pitchFamily="34" charset="0"/>
                          <a:ea typeface="Calibri" pitchFamily="34" charset="-122"/>
                          <a:cs typeface="Calibri" pitchFamily="34" charset="-120"/>
                        </a:rPr>
                        <a:t>خاص</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صحية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التوعية، </a:t>
                      </a:r>
                      <a:pPr indent="0" marL="0">
                        <a:buNone/>
                      </a:pPr>
                      <a:r>
                        <a:rPr lang="en-US" sz="950" dirty="0">
                          <a:solidFill>
                            <a:srgbClr val="0F1E3D"/>
                          </a:solidFill>
                          <a:latin typeface="Calibri" pitchFamily="34" charset="0"/>
                          <a:ea typeface="Calibri" pitchFamily="34" charset="-122"/>
                          <a:cs typeface="Calibri" pitchFamily="34" charset="-120"/>
                        </a:rPr>
                        <a:t>العلاج </a:t>
                      </a:r>
                      <a:pPr indent="0" marL="0">
                        <a:buNone/>
                      </a:pPr>
                      <a:r>
                        <a:rPr lang="en-US" sz="950" dirty="0">
                          <a:solidFill>
                            <a:srgbClr val="0F1E3D"/>
                          </a:solidFill>
                          <a:latin typeface="Calibri" pitchFamily="34" charset="0"/>
                          <a:ea typeface="Calibri" pitchFamily="34" charset="-122"/>
                          <a:cs typeface="Calibri" pitchFamily="34" charset="-120"/>
                        </a:rPr>
                        <a:t>المجاني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csr@sghgroup.com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920007997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صحة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المستشفى </a:t>
                      </a:r>
                      <a:pPr indent="0" marL="0">
                        <a:buNone/>
                      </a:pPr>
                      <a:r>
                        <a:rPr lang="en-US" sz="950" dirty="0">
                          <a:solidFill>
                            <a:srgbClr val="0F1E3D"/>
                          </a:solidFill>
                          <a:latin typeface="Calibri" pitchFamily="34" charset="0"/>
                          <a:ea typeface="Calibri" pitchFamily="34" charset="-122"/>
                          <a:cs typeface="Calibri" pitchFamily="34" charset="-120"/>
                        </a:rPr>
                        <a:t>السعودي </a:t>
                      </a:r>
                      <a:pPr indent="0" marL="0">
                        <a:buNone/>
                      </a:pPr>
                      <a:r>
                        <a:rPr lang="en-US" sz="950" dirty="0">
                          <a:solidFill>
                            <a:srgbClr val="0F1E3D"/>
                          </a:solidFill>
                          <a:latin typeface="Calibri" pitchFamily="34" charset="0"/>
                          <a:ea typeface="Calibri" pitchFamily="34" charset="-122"/>
                          <a:cs typeface="Calibri" pitchFamily="34" charset="-120"/>
                        </a:rPr>
                        <a:t>الألماني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شبكة </a:t>
                      </a:r>
                      <a:pPr indent="0" marL="0">
                        <a:buNone/>
                      </a:pPr>
                      <a:r>
                        <a:rPr lang="en-US" sz="950" dirty="0">
                          <a:solidFill>
                            <a:srgbClr val="0F1E3D"/>
                          </a:solidFill>
                          <a:latin typeface="Calibri" pitchFamily="34" charset="0"/>
                          <a:ea typeface="Calibri" pitchFamily="34" charset="-122"/>
                          <a:cs typeface="Calibri" pitchFamily="34" charset="-120"/>
                        </a:rPr>
                        <a:t>صيدليات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وتبرعات </a:t>
                      </a:r>
                      <a:pPr indent="0" marL="0">
                        <a:buNone/>
                      </a:pPr>
                      <a:r>
                        <a:rPr lang="en-US" sz="950" dirty="0">
                          <a:solidFill>
                            <a:srgbClr val="0F1E3D"/>
                          </a:solidFill>
                          <a:latin typeface="Calibri" pitchFamily="34" charset="0"/>
                          <a:ea typeface="Calibri" pitchFamily="34" charset="-122"/>
                          <a:cs typeface="Calibri" pitchFamily="34" charset="-120"/>
                        </a:rPr>
                        <a:t>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التوعية، </a:t>
                      </a:r>
                      <a:pPr indent="0" marL="0">
                        <a:buNone/>
                      </a:pPr>
                      <a:r>
                        <a:rPr lang="en-US" sz="950" dirty="0">
                          <a:solidFill>
                            <a:srgbClr val="0F1E3D"/>
                          </a:solidFill>
                          <a:latin typeface="Calibri" pitchFamily="34" charset="0"/>
                          <a:ea typeface="Calibri" pitchFamily="34" charset="-122"/>
                          <a:cs typeface="Calibri" pitchFamily="34" charset="-120"/>
                        </a:rPr>
                        <a:t>الأدوية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csr@nahdi.sa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920001515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صحة </a:t>
                      </a:r>
                      <a:pPr indent="0" marL="0">
                        <a:buNone/>
                      </a:pPr>
                      <a:r>
                        <a:rPr lang="en-US" sz="950" dirty="0">
                          <a:solidFill>
                            <a:srgbClr val="0F1E3D"/>
                          </a:solidFill>
                          <a:latin typeface="Calibri" pitchFamily="34" charset="0"/>
                          <a:ea typeface="Calibri" pitchFamily="34" charset="-122"/>
                          <a:cs typeface="Calibri" pitchFamily="34" charset="-120"/>
                        </a:rPr>
                        <a:t>وصيدلة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ناهل </a:t>
                      </a:r>
                      <a:pPr indent="0" marL="0">
                        <a:buNone/>
                      </a:pPr>
                      <a:r>
                        <a:rPr lang="en-US" sz="950" dirty="0">
                          <a:solidFill>
                            <a:srgbClr val="0F1E3D"/>
                          </a:solidFill>
                          <a:latin typeface="Calibri" pitchFamily="34" charset="0"/>
                          <a:ea typeface="Calibri" pitchFamily="34" charset="-122"/>
                          <a:cs typeface="Calibri" pitchFamily="34" charset="-120"/>
                        </a:rPr>
                        <a:t>(دواء/صيدلة)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مزود </a:t>
                      </a:r>
                      <a:pPr indent="0" marL="0">
                        <a:buNone/>
                      </a:pPr>
                      <a:r>
                        <a:rPr lang="en-US" sz="950" dirty="0">
                          <a:solidFill>
                            <a:srgbClr val="0F1E3D"/>
                          </a:solidFill>
                          <a:latin typeface="Calibri" pitchFamily="34" charset="0"/>
                          <a:ea typeface="Calibri" pitchFamily="34" charset="-122"/>
                          <a:cs typeface="Calibri" pitchFamily="34" charset="-120"/>
                        </a:rPr>
                        <a:t>رعاية </a:t>
                      </a:r>
                      <a:pPr indent="0" marL="0">
                        <a:buNone/>
                      </a:pPr>
                      <a:r>
                        <a:rPr lang="en-US" sz="950" dirty="0">
                          <a:solidFill>
                            <a:srgbClr val="0F1E3D"/>
                          </a:solidFill>
                          <a:latin typeface="Calibri" pitchFamily="34" charset="0"/>
                          <a:ea typeface="Calibri" pitchFamily="34" charset="-122"/>
                          <a:cs typeface="Calibri" pitchFamily="34" charset="-120"/>
                        </a:rPr>
                        <a:t>صحية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صحية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الصحة، </a:t>
                      </a:r>
                      <a:pPr indent="0" marL="0">
                        <a:buNone/>
                      </a:pPr>
                      <a:r>
                        <a:rPr lang="en-US" sz="950" dirty="0">
                          <a:solidFill>
                            <a:srgbClr val="0F1E3D"/>
                          </a:solidFill>
                          <a:latin typeface="Calibri" pitchFamily="34" charset="0"/>
                          <a:ea typeface="Calibri" pitchFamily="34" charset="-122"/>
                          <a:cs typeface="Calibri" pitchFamily="34" charset="-120"/>
                        </a:rPr>
                        <a:t>العلاج </a:t>
                      </a:r>
                      <a:pPr indent="0" marL="0">
                        <a:buNone/>
                      </a:pPr>
                      <a:r>
                        <a:rPr lang="en-US" sz="950" dirty="0">
                          <a:solidFill>
                            <a:srgbClr val="0F1E3D"/>
                          </a:solidFill>
                          <a:latin typeface="Calibri" pitchFamily="34" charset="0"/>
                          <a:ea typeface="Calibri" pitchFamily="34" charset="-122"/>
                          <a:cs typeface="Calibri" pitchFamily="34" charset="-120"/>
                        </a:rPr>
                        <a:t>المجاني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csr@hmg.com.sa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920001000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صحة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الدكتور </a:t>
                      </a:r>
                      <a:pPr indent="0" marL="0">
                        <a:buNone/>
                      </a:pPr>
                      <a:r>
                        <a:rPr lang="en-US" sz="950" dirty="0">
                          <a:solidFill>
                            <a:srgbClr val="0F1E3D"/>
                          </a:solidFill>
                          <a:latin typeface="Calibri" pitchFamily="34" charset="0"/>
                          <a:ea typeface="Calibri" pitchFamily="34" charset="-122"/>
                          <a:cs typeface="Calibri" pitchFamily="34" charset="-120"/>
                        </a:rPr>
                        <a:t>سليمان </a:t>
                      </a:r>
                      <a:pPr indent="0" marL="0">
                        <a:buNone/>
                      </a:pPr>
                      <a:r>
                        <a:rPr lang="en-US" sz="950" dirty="0">
                          <a:solidFill>
                            <a:srgbClr val="0F1E3D"/>
                          </a:solidFill>
                          <a:latin typeface="Calibri" pitchFamily="34" charset="0"/>
                          <a:ea typeface="Calibri" pitchFamily="34" charset="-122"/>
                          <a:cs typeface="Calibri" pitchFamily="34" charset="-120"/>
                        </a:rPr>
                        <a:t>الحبيب </a:t>
                      </a:r>
                      <a:pPr indent="0" marL="0">
                        <a:buNone/>
                      </a:pPr>
                      <a:r>
                        <a:rPr lang="en-US" sz="950" dirty="0">
                          <a:solidFill>
                            <a:srgbClr val="0F1E3D"/>
                          </a:solidFill>
                          <a:latin typeface="Calibri" pitchFamily="34" charset="0"/>
                          <a:ea typeface="Calibri" pitchFamily="34" charset="-122"/>
                          <a:cs typeface="Calibri" pitchFamily="34" charset="-120"/>
                        </a:rPr>
                        <a:t>الطبية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39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الناقل </a:t>
                      </a:r>
                      <a:pPr indent="0" marL="0">
                        <a:buNone/>
                      </a:pPr>
                      <a:r>
                        <a:rPr lang="en-US" sz="950" dirty="0">
                          <a:solidFill>
                            <a:srgbClr val="0F1E3D"/>
                          </a:solidFill>
                          <a:latin typeface="Calibri" pitchFamily="34" charset="0"/>
                          <a:ea typeface="Calibri" pitchFamily="34" charset="-122"/>
                          <a:cs typeface="Calibri" pitchFamily="34" charset="-120"/>
                        </a:rPr>
                        <a:t>الوطني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لوجستية </a:t>
                      </a:r>
                      <a:pPr indent="0" marL="0">
                        <a:buNone/>
                      </a:pPr>
                      <a:r>
                        <a:rPr lang="en-US" sz="950" dirty="0">
                          <a:solidFill>
                            <a:srgbClr val="0F1E3D"/>
                          </a:solidFill>
                          <a:latin typeface="Calibri" pitchFamily="34" charset="0"/>
                          <a:ea typeface="Calibri" pitchFamily="34" charset="-122"/>
                          <a:cs typeface="Calibri" pitchFamily="34" charset="-120"/>
                        </a:rPr>
                        <a:t>وعينية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النقل </a:t>
                      </a:r>
                      <a:pPr indent="0" marL="0">
                        <a:buNone/>
                      </a:pPr>
                      <a:r>
                        <a:rPr lang="en-US" sz="950" dirty="0">
                          <a:solidFill>
                            <a:srgbClr val="0F1E3D"/>
                          </a:solidFill>
                          <a:latin typeface="Calibri" pitchFamily="34" charset="0"/>
                          <a:ea typeface="Calibri" pitchFamily="34" charset="-122"/>
                          <a:cs typeface="Calibri" pitchFamily="34" charset="-120"/>
                        </a:rPr>
                        <a:t>الإنساني، </a:t>
                      </a:r>
                      <a:pPr indent="0" marL="0">
                        <a:buNone/>
                      </a:pPr>
                      <a:r>
                        <a:rPr lang="en-US" sz="950" dirty="0">
                          <a:solidFill>
                            <a:srgbClr val="0F1E3D"/>
                          </a:solidFill>
                          <a:latin typeface="Calibri" pitchFamily="34" charset="0"/>
                          <a:ea typeface="Calibri" pitchFamily="34" charset="-122"/>
                          <a:cs typeface="Calibri" pitchFamily="34" charset="-120"/>
                        </a:rPr>
                        <a:t>التطوع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csr@saudia.com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920022222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طيران</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الخطوط </a:t>
                      </a:r>
                      <a:pPr indent="0" marL="0">
                        <a:buNone/>
                      </a:pPr>
                      <a:r>
                        <a:rPr lang="en-US" sz="950" dirty="0">
                          <a:solidFill>
                            <a:srgbClr val="0F1E3D"/>
                          </a:solidFill>
                          <a:latin typeface="Calibri" pitchFamily="34" charset="0"/>
                          <a:ea typeface="Calibri" pitchFamily="34" charset="-122"/>
                          <a:cs typeface="Calibri" pitchFamily="34" charset="-120"/>
                        </a:rPr>
                        <a:t>السعودية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تدعم </a:t>
                      </a:r>
                      <a:pPr indent="0" marL="0">
                        <a:buNone/>
                      </a:pPr>
                      <a:r>
                        <a:rPr lang="en-US" sz="950" dirty="0">
                          <a:solidFill>
                            <a:srgbClr val="0F1E3D"/>
                          </a:solidFill>
                          <a:latin typeface="Calibri" pitchFamily="34" charset="0"/>
                          <a:ea typeface="Calibri" pitchFamily="34" charset="-122"/>
                          <a:cs typeface="Calibri" pitchFamily="34" charset="-120"/>
                        </a:rPr>
                        <a:t>توزيع </a:t>
                      </a:r>
                      <a:pPr indent="0" marL="0">
                        <a:buNone/>
                      </a:pPr>
                      <a:r>
                        <a:rPr lang="en-US" sz="950" dirty="0">
                          <a:solidFill>
                            <a:srgbClr val="0F1E3D"/>
                          </a:solidFill>
                          <a:latin typeface="Calibri" pitchFamily="34" charset="0"/>
                          <a:ea typeface="Calibri" pitchFamily="34" charset="-122"/>
                          <a:cs typeface="Calibri" pitchFamily="34" charset="-120"/>
                        </a:rPr>
                        <a:t>المواد</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لوجستية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اللوجستيات، </a:t>
                      </a:r>
                      <a:pPr indent="0" marL="0">
                        <a:buNone/>
                      </a:pPr>
                      <a:r>
                        <a:rPr lang="en-US" sz="950" dirty="0">
                          <a:solidFill>
                            <a:srgbClr val="0F1E3D"/>
                          </a:solidFill>
                          <a:latin typeface="Calibri" pitchFamily="34" charset="0"/>
                          <a:ea typeface="Calibri" pitchFamily="34" charset="-122"/>
                          <a:cs typeface="Calibri" pitchFamily="34" charset="-120"/>
                        </a:rPr>
                        <a:t>التوزيع</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csr@splonline.com.sa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920005700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بريد </a:t>
                      </a:r>
                      <a:pPr indent="0" marL="0">
                        <a:buNone/>
                      </a:pPr>
                      <a:r>
                        <a:rPr lang="en-US" sz="950" dirty="0">
                          <a:solidFill>
                            <a:srgbClr val="0F1E3D"/>
                          </a:solidFill>
                          <a:latin typeface="Calibri" pitchFamily="34" charset="0"/>
                          <a:ea typeface="Calibri" pitchFamily="34" charset="-122"/>
                          <a:cs typeface="Calibri" pitchFamily="34" charset="-120"/>
                        </a:rPr>
                        <a:t>ولوجستيات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البريد </a:t>
                      </a:r>
                      <a:pPr indent="0" marL="0">
                        <a:buNone/>
                      </a:pPr>
                      <a:r>
                        <a:rPr lang="en-US" sz="950" dirty="0">
                          <a:solidFill>
                            <a:srgbClr val="0F1E3D"/>
                          </a:solidFill>
                          <a:latin typeface="Calibri" pitchFamily="34" charset="0"/>
                          <a:ea typeface="Calibri" pitchFamily="34" charset="-122"/>
                          <a:cs typeface="Calibri" pitchFamily="34" charset="-120"/>
                        </a:rPr>
                        <a:t>السعودي </a:t>
                      </a:r>
                      <a:pPr indent="0" marL="0">
                        <a:buNone/>
                      </a:pPr>
                      <a:r>
                        <a:rPr lang="en-US" sz="950" dirty="0">
                          <a:solidFill>
                            <a:srgbClr val="0F1E3D"/>
                          </a:solidFill>
                          <a:latin typeface="Calibri" pitchFamily="34" charset="0"/>
                          <a:ea typeface="Calibri" pitchFamily="34" charset="-122"/>
                          <a:cs typeface="Calibri" pitchFamily="34" charset="-120"/>
                        </a:rPr>
                        <a:t>(سبل)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41</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عائلية </a:t>
                      </a:r>
                      <a:pPr indent="0" marL="0">
                        <a:buNone/>
                      </a:pPr>
                      <a:r>
                        <a:rPr lang="en-US" sz="950" dirty="0">
                          <a:solidFill>
                            <a:srgbClr val="0F1E3D"/>
                          </a:solidFill>
                          <a:latin typeface="Calibri" pitchFamily="34" charset="0"/>
                          <a:ea typeface="Calibri" pitchFamily="34" charset="-122"/>
                          <a:cs typeface="Calibri" pitchFamily="34" charset="-120"/>
                        </a:rPr>
                        <a:t>فاعلة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الكفالات، </a:t>
                      </a:r>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charity@tkc.com.sa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011-4555000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الشؤون </a:t>
                      </a:r>
                      <a:pPr indent="0" marL="0">
                        <a:buNone/>
                      </a:pPr>
                      <a:r>
                        <a:rPr lang="en-US" sz="950" dirty="0">
                          <a:solidFill>
                            <a:srgbClr val="0F1E3D"/>
                          </a:solidFill>
                          <a:latin typeface="Calibri" pitchFamily="34" charset="0"/>
                          <a:ea typeface="Calibri" pitchFamily="34" charset="-122"/>
                          <a:cs typeface="Calibri" pitchFamily="34" charset="-120"/>
                        </a:rPr>
                        <a:t>الخيرية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استثمار </a:t>
                      </a:r>
                      <a:pPr indent="0" marL="0">
                        <a:buNone/>
                      </a:pPr>
                      <a:r>
                        <a:rPr lang="en-US" sz="950" dirty="0">
                          <a:solidFill>
                            <a:srgbClr val="0F1E3D"/>
                          </a:solidFill>
                          <a:latin typeface="Calibri" pitchFamily="34" charset="0"/>
                          <a:ea typeface="Calibri" pitchFamily="34" charset="-122"/>
                          <a:cs typeface="Calibri" pitchFamily="34" charset="-120"/>
                        </a:rPr>
                        <a:t>وتجارة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تركي </a:t>
                      </a:r>
                      <a:pPr indent="0" marL="0">
                        <a:buNone/>
                      </a:pPr>
                      <a:r>
                        <a:rPr lang="en-US" sz="950" dirty="0">
                          <a:solidFill>
                            <a:srgbClr val="0F1E3D"/>
                          </a:solidFill>
                          <a:latin typeface="Calibri" pitchFamily="34" charset="0"/>
                          <a:ea typeface="Calibri" pitchFamily="34" charset="-122"/>
                          <a:cs typeface="Calibri" pitchFamily="34" charset="-120"/>
                        </a:rPr>
                        <a:t>بن </a:t>
                      </a:r>
                      <a:pPr indent="0" marL="0">
                        <a:buNone/>
                      </a:pPr>
                      <a:r>
                        <a:rPr lang="en-US" sz="950" dirty="0">
                          <a:solidFill>
                            <a:srgbClr val="0F1E3D"/>
                          </a:solidFill>
                          <a:latin typeface="Calibri" pitchFamily="34" charset="0"/>
                          <a:ea typeface="Calibri" pitchFamily="34" charset="-122"/>
                          <a:cs typeface="Calibri" pitchFamily="34" charset="-120"/>
                        </a:rPr>
                        <a:t>خالد </a:t>
                      </a:r>
                      <a:pPr indent="0" marL="0">
                        <a:buNone/>
                      </a:pPr>
                      <a:r>
                        <a:rPr lang="en-US" sz="950" dirty="0">
                          <a:solidFill>
                            <a:srgbClr val="0F1E3D"/>
                          </a:solidFill>
                          <a:latin typeface="Calibri" pitchFamily="34" charset="0"/>
                          <a:ea typeface="Calibri" pitchFamily="34" charset="-122"/>
                          <a:cs typeface="Calibri" pitchFamily="34" charset="-120"/>
                        </a:rPr>
                        <a:t>التجارية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استثمارية </a:t>
                      </a:r>
                      <a:pPr indent="0" marL="0">
                        <a:buNone/>
                      </a:pPr>
                      <a:r>
                        <a:rPr lang="en-US" sz="950" dirty="0">
                          <a:solidFill>
                            <a:srgbClr val="0F1E3D"/>
                          </a:solidFill>
                          <a:latin typeface="Calibri" pitchFamily="34" charset="0"/>
                          <a:ea typeface="Calibri" pitchFamily="34" charset="-122"/>
                          <a:cs typeface="Calibri" pitchFamily="34" charset="-120"/>
                        </a:rPr>
                        <a:t>عملاقة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استراتيجية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الصحة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csr@olayan.com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011-4791111</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المؤسسية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استثمار</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العليان </a:t>
                      </a:r>
                      <a:pPr indent="0" marL="0">
                        <a:buNone/>
                      </a:pPr>
                      <a:r>
                        <a:rPr lang="en-US" sz="950" dirty="0">
                          <a:solidFill>
                            <a:srgbClr val="0F1E3D"/>
                          </a:solidFill>
                          <a:latin typeface="Calibri" pitchFamily="34" charset="0"/>
                          <a:ea typeface="Calibri" pitchFamily="34" charset="-122"/>
                          <a:cs typeface="Calibri" pitchFamily="34" charset="-120"/>
                        </a:rPr>
                        <a:t>المالية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43</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أكبر </a:t>
                      </a:r>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مقاولات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عينية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البناء، </a:t>
                      </a:r>
                      <a:pPr indent="0" marL="0">
                        <a:buNone/>
                      </a:pPr>
                      <a:r>
                        <a:rPr lang="en-US" sz="950" dirty="0">
                          <a:solidFill>
                            <a:srgbClr val="0F1E3D"/>
                          </a:solidFill>
                          <a:latin typeface="Calibri" pitchFamily="34" charset="0"/>
                          <a:ea typeface="Calibri" pitchFamily="34" charset="-122"/>
                          <a:cs typeface="Calibri" pitchFamily="34" charset="-120"/>
                        </a:rPr>
                        <a:t>الإسكان، </a:t>
                      </a:r>
                      <a:pPr indent="0" marL="0">
                        <a:buNone/>
                      </a:pPr>
                      <a:r>
                        <a:rPr lang="en-US" sz="950" dirty="0">
                          <a:solidFill>
                            <a:srgbClr val="0F1E3D"/>
                          </a:solidFill>
                          <a:latin typeface="Calibri" pitchFamily="34" charset="0"/>
                          <a:ea typeface="Calibri" pitchFamily="34" charset="-122"/>
                          <a:cs typeface="Calibri" pitchFamily="34" charset="-120"/>
                        </a:rPr>
                        <a:t>التعليم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csr@sbg.com.sa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012-6675000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الأعمال </a:t>
                      </a:r>
                      <a:pPr indent="0" marL="0">
                        <a:buNone/>
                      </a:pPr>
                      <a:r>
                        <a:rPr lang="en-US" sz="950" dirty="0">
                          <a:solidFill>
                            <a:srgbClr val="0F1E3D"/>
                          </a:solidFill>
                          <a:latin typeface="Calibri" pitchFamily="34" charset="0"/>
                          <a:ea typeface="Calibri" pitchFamily="34" charset="-122"/>
                          <a:cs typeface="Calibri" pitchFamily="34" charset="-120"/>
                        </a:rPr>
                        <a:t>الخيرية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جدة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مقاولات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بن </a:t>
                      </a:r>
                      <a:pPr indent="0" marL="0">
                        <a:buNone/>
                      </a:pPr>
                      <a:r>
                        <a:rPr lang="en-US" sz="950" dirty="0">
                          <a:solidFill>
                            <a:srgbClr val="0F1E3D"/>
                          </a:solidFill>
                          <a:latin typeface="Calibri" pitchFamily="34" charset="0"/>
                          <a:ea typeface="Calibri" pitchFamily="34" charset="-122"/>
                          <a:cs typeface="Calibri" pitchFamily="34" charset="-120"/>
                        </a:rPr>
                        <a:t>لادن </a:t>
                      </a:r>
                      <a:pPr indent="0" marL="0">
                        <a:buNone/>
                      </a:pPr>
                      <a:r>
                        <a:rPr lang="en-US" sz="950" dirty="0">
                          <a:solidFill>
                            <a:srgbClr val="0F1E3D"/>
                          </a:solidFill>
                          <a:latin typeface="Calibri" pitchFamily="34" charset="0"/>
                          <a:ea typeface="Calibri" pitchFamily="34" charset="-122"/>
                          <a:cs typeface="Calibri" pitchFamily="34" charset="-120"/>
                        </a:rPr>
                        <a:t>السعودية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رائدة </a:t>
                      </a:r>
                      <a:pPr indent="0" marL="0">
                        <a:buNone/>
                      </a:pPr>
                      <a:r>
                        <a:rPr lang="en-US" sz="950" dirty="0">
                          <a:solidFill>
                            <a:srgbClr val="0F1E3D"/>
                          </a:solidFill>
                          <a:latin typeface="Calibri" pitchFamily="34" charset="0"/>
                          <a:ea typeface="Calibri" pitchFamily="34" charset="-122"/>
                          <a:cs typeface="Calibri" pitchFamily="34" charset="-120"/>
                        </a:rPr>
                        <a:t>في </a:t>
                      </a:r>
                      <a:pPr indent="0" marL="0">
                        <a:buNone/>
                      </a:pPr>
                      <a:r>
                        <a:rPr lang="en-US" sz="950" dirty="0">
                          <a:solidFill>
                            <a:srgbClr val="0F1E3D"/>
                          </a:solidFill>
                          <a:latin typeface="Calibri" pitchFamily="34" charset="0"/>
                          <a:ea typeface="Calibri" pitchFamily="34" charset="-122"/>
                          <a:cs typeface="Calibri" pitchFamily="34" charset="-120"/>
                        </a:rPr>
                        <a:t>الصناعة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سنوية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الصناعة، </a:t>
                      </a:r>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التقني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csr@zamilgroup.com</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013-8474000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الدمام</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صناعة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شركة </a:t>
                      </a:r>
                      <a:pPr indent="0" marL="0">
                        <a:buNone/>
                      </a:pPr>
                      <a:r>
                        <a:rPr lang="en-US" sz="950" dirty="0">
                          <a:solidFill>
                            <a:srgbClr val="0F1E3D"/>
                          </a:solidFill>
                          <a:latin typeface="Calibri" pitchFamily="34" charset="0"/>
                          <a:ea typeface="Calibri" pitchFamily="34" charset="-122"/>
                          <a:cs typeface="Calibri" pitchFamily="34" charset="-120"/>
                        </a:rPr>
                        <a:t>الزامل </a:t>
                      </a:r>
                      <a:pPr indent="0" marL="0">
                        <a:buNone/>
                      </a:pPr>
                      <a:r>
                        <a:rPr lang="en-US" sz="950" dirty="0">
                          <a:solidFill>
                            <a:srgbClr val="0F1E3D"/>
                          </a:solidFill>
                          <a:latin typeface="Calibri" pitchFamily="34" charset="0"/>
                          <a:ea typeface="Calibri" pitchFamily="34" charset="-122"/>
                          <a:cs typeface="Calibri" pitchFamily="34" charset="-120"/>
                        </a:rPr>
                        <a:t>للاستثمار </a:t>
                      </a:r>
                      <a:pPr indent="0" marL="0">
                        <a:buNone/>
                      </a:pPr>
                      <a:r>
                        <a:rPr lang="en-US" sz="950" dirty="0">
                          <a:solidFill>
                            <a:srgbClr val="0F1E3D"/>
                          </a:solidFill>
                          <a:latin typeface="Calibri" pitchFamily="34" charset="0"/>
                          <a:ea typeface="Calibri" pitchFamily="34" charset="-122"/>
                          <a:cs typeface="Calibri" pitchFamily="34" charset="-120"/>
                        </a:rPr>
                        <a:t>الصناعي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45</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تجارية </a:t>
                      </a:r>
                      <a:pPr indent="0" marL="0">
                        <a:buNone/>
                      </a:pPr>
                      <a:r>
                        <a:rPr lang="en-US" sz="950" dirty="0">
                          <a:solidFill>
                            <a:srgbClr val="0F1E3D"/>
                          </a:solidFill>
                          <a:latin typeface="Calibri" pitchFamily="34" charset="0"/>
                          <a:ea typeface="Calibri" pitchFamily="34" charset="-122"/>
                          <a:cs typeface="Calibri" pitchFamily="34" charset="-120"/>
                        </a:rPr>
                        <a:t>إقليمية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متوسطة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التعليم، </a:t>
                      </a:r>
                      <a:pPr indent="0" marL="0">
                        <a:buNone/>
                      </a:pPr>
                      <a:r>
                        <a:rPr lang="en-US" sz="950" dirty="0">
                          <a:solidFill>
                            <a:srgbClr val="0F1E3D"/>
                          </a:solidFill>
                          <a:latin typeface="Calibri" pitchFamily="34" charset="0"/>
                          <a:ea typeface="Calibri" pitchFamily="34" charset="-122"/>
                          <a:cs typeface="Calibri" pitchFamily="34" charset="-120"/>
                        </a:rPr>
                        <a:t>الأسرة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csr@alfuttaim.sa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920022070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المسؤولية </a:t>
                      </a:r>
                      <a:pPr indent="0" marL="0">
                        <a:buNone/>
                      </a:pPr>
                      <a:r>
                        <a:rPr lang="en-US" sz="950" dirty="0">
                          <a:solidFill>
                            <a:srgbClr val="0F1E3D"/>
                          </a:solidFill>
                          <a:latin typeface="Calibri" pitchFamily="34" charset="0"/>
                          <a:ea typeface="Calibri" pitchFamily="34" charset="-122"/>
                          <a:cs typeface="Calibri" pitchFamily="34" charset="-120"/>
                        </a:rPr>
                        <a:t>المجتمعية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تجارة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مجموعة </a:t>
                      </a:r>
                      <a:pPr indent="0" marL="0">
                        <a:buNone/>
                      </a:pPr>
                      <a:r>
                        <a:rPr lang="en-US" sz="950" dirty="0">
                          <a:solidFill>
                            <a:srgbClr val="0F1E3D"/>
                          </a:solidFill>
                          <a:latin typeface="Calibri" pitchFamily="34" charset="0"/>
                          <a:ea typeface="Calibri" pitchFamily="34" charset="-122"/>
                          <a:cs typeface="Calibri" pitchFamily="34" charset="-120"/>
                        </a:rPr>
                        <a:t>الفطيم </a:t>
                      </a:r>
                      <a:pPr indent="0" marL="0">
                        <a:buNone/>
                      </a:pPr>
                      <a:r>
                        <a:rPr lang="en-US" sz="950" dirty="0">
                          <a:solidFill>
                            <a:srgbClr val="0F1E3D"/>
                          </a:solidFill>
                          <a:latin typeface="Calibri" pitchFamily="34" charset="0"/>
                          <a:ea typeface="Calibri" pitchFamily="34" charset="-122"/>
                          <a:cs typeface="Calibri" pitchFamily="34" charset="-120"/>
                        </a:rPr>
                        <a:t>السعودية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46</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رعاية </a:t>
                      </a:r>
                      <a:pPr indent="0" marL="0">
                        <a:buNone/>
                      </a:pPr>
                      <a:r>
                        <a:rPr lang="en-US" sz="950" dirty="0">
                          <a:solidFill>
                            <a:srgbClr val="0F1E3D"/>
                          </a:solidFill>
                          <a:latin typeface="Calibri" pitchFamily="34" charset="0"/>
                          <a:ea typeface="Calibri" pitchFamily="34" charset="-122"/>
                          <a:cs typeface="Calibri" pitchFamily="34" charset="-120"/>
                        </a:rPr>
                        <a:t>متكاملة </a:t>
                      </a:r>
                      <a:pPr indent="0" marL="0">
                        <a:buNone/>
                      </a:pPr>
                      <a:r>
                        <a:rPr lang="en-US" sz="950" dirty="0">
                          <a:solidFill>
                            <a:srgbClr val="0F1E3D"/>
                          </a:solidFill>
                          <a:latin typeface="Calibri" pitchFamily="34" charset="0"/>
                          <a:ea typeface="Calibri" pitchFamily="34" charset="-122"/>
                          <a:cs typeface="Calibri" pitchFamily="34" charset="-120"/>
                        </a:rPr>
                        <a:t>لأطفال </a:t>
                      </a:r>
                      <a:pPr indent="0" marL="0">
                        <a:buNone/>
                      </a:pPr>
                      <a:r>
                        <a:rPr lang="en-US" sz="950" dirty="0">
                          <a:solidFill>
                            <a:srgbClr val="0F1E3D"/>
                          </a:solidFill>
                          <a:latin typeface="Calibri" pitchFamily="34" charset="0"/>
                          <a:ea typeface="Calibri" pitchFamily="34" charset="-122"/>
                          <a:cs typeface="Calibri" pitchFamily="34" charset="-120"/>
                        </a:rPr>
                        <a:t>الشهداء</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نوعية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رعاية </a:t>
                      </a:r>
                      <a:pPr indent="0" marL="0">
                        <a:buNone/>
                      </a:pPr>
                      <a:r>
                        <a:rPr lang="en-US" sz="950" dirty="0">
                          <a:solidFill>
                            <a:srgbClr val="0F1E3D"/>
                          </a:solidFill>
                          <a:latin typeface="Calibri" pitchFamily="34" charset="0"/>
                          <a:ea typeface="Calibri" pitchFamily="34" charset="-122"/>
                          <a:cs typeface="Calibri" pitchFamily="34" charset="-120"/>
                        </a:rPr>
                        <a:t>أطفال </a:t>
                      </a:r>
                      <a:pPr indent="0" marL="0">
                        <a:buNone/>
                      </a:pPr>
                      <a:r>
                        <a:rPr lang="en-US" sz="950" dirty="0">
                          <a:solidFill>
                            <a:srgbClr val="0F1E3D"/>
                          </a:solidFill>
                          <a:latin typeface="Calibri" pitchFamily="34" charset="0"/>
                          <a:ea typeface="Calibri" pitchFamily="34" charset="-122"/>
                          <a:cs typeface="Calibri" pitchFamily="34" charset="-120"/>
                        </a:rPr>
                        <a:t>الشهداء</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info@sanadcf.org.sa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011-2030500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وطنية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مؤسسة </a:t>
                      </a:r>
                      <a:pPr indent="0" marL="0">
                        <a:buNone/>
                      </a:pPr>
                      <a:r>
                        <a:rPr lang="en-US" sz="950" dirty="0">
                          <a:solidFill>
                            <a:srgbClr val="0F1E3D"/>
                          </a:solidFill>
                          <a:latin typeface="Calibri" pitchFamily="34" charset="0"/>
                          <a:ea typeface="Calibri" pitchFamily="34" charset="-122"/>
                          <a:cs typeface="Calibri" pitchFamily="34" charset="-120"/>
                        </a:rPr>
                        <a:t>سند </a:t>
                      </a:r>
                      <a:pPr indent="0" marL="0">
                        <a:buNone/>
                      </a:pPr>
                      <a:r>
                        <a:rPr lang="en-US" sz="950" dirty="0">
                          <a:solidFill>
                            <a:srgbClr val="0F1E3D"/>
                          </a:solidFill>
                          <a:latin typeface="Calibri" pitchFamily="34" charset="0"/>
                          <a:ea typeface="Calibri" pitchFamily="34" charset="-122"/>
                          <a:cs typeface="Calibri" pitchFamily="34" charset="-120"/>
                        </a:rPr>
                        <a:t>محمد </a:t>
                      </a:r>
                      <a:pPr indent="0" marL="0">
                        <a:buNone/>
                      </a:pPr>
                      <a:r>
                        <a:rPr lang="en-US" sz="950" dirty="0">
                          <a:solidFill>
                            <a:srgbClr val="0F1E3D"/>
                          </a:solidFill>
                          <a:latin typeface="Calibri" pitchFamily="34" charset="0"/>
                          <a:ea typeface="Calibri" pitchFamily="34" charset="-122"/>
                          <a:cs typeface="Calibri" pitchFamily="34" charset="-120"/>
                        </a:rPr>
                        <a:t>بن </a:t>
                      </a:r>
                      <a:pPr indent="0" marL="0">
                        <a:buNone/>
                      </a:pPr>
                      <a:r>
                        <a:rPr lang="en-US" sz="950" dirty="0">
                          <a:solidFill>
                            <a:srgbClr val="0F1E3D"/>
                          </a:solidFill>
                          <a:latin typeface="Calibri" pitchFamily="34" charset="0"/>
                          <a:ea typeface="Calibri" pitchFamily="34" charset="-122"/>
                          <a:cs typeface="Calibri" pitchFamily="34" charset="-120"/>
                        </a:rPr>
                        <a:t>سلمان </a:t>
                      </a:r>
                      <a:pPr indent="0" marL="0">
                        <a:buNone/>
                      </a:pPr>
                      <a:r>
                        <a:rPr lang="en-US" sz="950" dirty="0">
                          <a:solidFill>
                            <a:srgbClr val="0F1E3D"/>
                          </a:solidFill>
                          <a:latin typeface="Calibri" pitchFamily="34" charset="0"/>
                          <a:ea typeface="Calibri" pitchFamily="34" charset="-122"/>
                          <a:cs typeface="Calibri" pitchFamily="34" charset="-120"/>
                        </a:rPr>
                        <a:t>لرعاية </a:t>
                      </a:r>
                      <a:pPr indent="0" marL="0">
                        <a:buNone/>
                      </a:pPr>
                      <a:r>
                        <a:rPr lang="en-US" sz="950" dirty="0">
                          <a:solidFill>
                            <a:srgbClr val="0F1E3D"/>
                          </a:solidFill>
                          <a:latin typeface="Calibri" pitchFamily="34" charset="0"/>
                          <a:ea typeface="Calibri" pitchFamily="34" charset="-122"/>
                          <a:cs typeface="Calibri" pitchFamily="34" charset="-120"/>
                        </a:rPr>
                        <a:t>أطفال </a:t>
                      </a:r>
                      <a:pPr indent="0" marL="0">
                        <a:buNone/>
                      </a:pPr>
                      <a:r>
                        <a:rPr lang="en-US" sz="950" dirty="0">
                          <a:solidFill>
                            <a:srgbClr val="0F1E3D"/>
                          </a:solidFill>
                          <a:latin typeface="Calibri" pitchFamily="34" charset="0"/>
                          <a:ea typeface="Calibri" pitchFamily="34" charset="-122"/>
                          <a:cs typeface="Calibri" pitchFamily="34" charset="-120"/>
                        </a:rPr>
                        <a:t>الشهداء</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47</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يدعم </a:t>
                      </a:r>
                      <a:pPr indent="0" marL="0">
                        <a:buNone/>
                      </a:pPr>
                      <a:r>
                        <a:rPr lang="en-US" sz="950" dirty="0">
                          <a:solidFill>
                            <a:srgbClr val="0F1E3D"/>
                          </a:solidFill>
                          <a:latin typeface="Calibri" pitchFamily="34" charset="0"/>
                          <a:ea typeface="Calibri" pitchFamily="34" charset="-122"/>
                          <a:cs typeface="Calibri" pitchFamily="34" charset="-120"/>
                        </a:rPr>
                        <a:t>القطاع </a:t>
                      </a:r>
                      <a:pPr indent="0" marL="0">
                        <a:buNone/>
                      </a:pPr>
                      <a:r>
                        <a:rPr lang="en-US" sz="950" dirty="0">
                          <a:solidFill>
                            <a:srgbClr val="0F1E3D"/>
                          </a:solidFill>
                          <a:latin typeface="Calibri" pitchFamily="34" charset="0"/>
                          <a:ea typeface="Calibri" pitchFamily="34" charset="-122"/>
                          <a:cs typeface="Calibri" pitchFamily="34" charset="-120"/>
                        </a:rPr>
                        <a:t>غير </a:t>
                      </a:r>
                      <a:pPr indent="0" marL="0">
                        <a:buNone/>
                      </a:pPr>
                      <a:r>
                        <a:rPr lang="en-US" sz="950" dirty="0">
                          <a:solidFill>
                            <a:srgbClr val="0F1E3D"/>
                          </a:solidFill>
                          <a:latin typeface="Calibri" pitchFamily="34" charset="0"/>
                          <a:ea typeface="Calibri" pitchFamily="34" charset="-122"/>
                          <a:cs typeface="Calibri" pitchFamily="34" charset="-120"/>
                        </a:rPr>
                        <a:t>الربحي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تمويلية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التمكين </a:t>
                      </a:r>
                      <a:pPr indent="0" marL="0">
                        <a:buNone/>
                      </a:pPr>
                      <a:r>
                        <a:rPr lang="en-US" sz="950" dirty="0">
                          <a:solidFill>
                            <a:srgbClr val="0F1E3D"/>
                          </a:solidFill>
                          <a:latin typeface="Calibri" pitchFamily="34" charset="0"/>
                          <a:ea typeface="Calibri" pitchFamily="34" charset="-122"/>
                          <a:cs typeface="Calibri" pitchFamily="34" charset="-120"/>
                        </a:rPr>
                        <a:t>الاقتصادي، </a:t>
                      </a:r>
                      <a:pPr indent="0" marL="0">
                        <a:buNone/>
                      </a:pPr>
                      <a:r>
                        <a:rPr lang="en-US" sz="950" dirty="0">
                          <a:solidFill>
                            <a:srgbClr val="0F1E3D"/>
                          </a:solidFill>
                          <a:latin typeface="Calibri" pitchFamily="34" charset="0"/>
                          <a:ea typeface="Calibri" pitchFamily="34" charset="-122"/>
                          <a:cs typeface="Calibri" pitchFamily="34" charset="-120"/>
                        </a:rPr>
                        <a:t>التمويل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partnerships@sdb.gov.sa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920004444</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جهة </a:t>
                      </a:r>
                      <a:pPr indent="0" marL="0">
                        <a:buNone/>
                      </a:pPr>
                      <a:r>
                        <a:rPr lang="en-US" sz="950" dirty="0">
                          <a:solidFill>
                            <a:srgbClr val="0F1E3D"/>
                          </a:solidFill>
                          <a:latin typeface="Calibri" pitchFamily="34" charset="0"/>
                          <a:ea typeface="Calibri" pitchFamily="34" charset="-122"/>
                          <a:cs typeface="Calibri" pitchFamily="34" charset="-120"/>
                        </a:rPr>
                        <a:t>حكومية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صندوق </a:t>
                      </a:r>
                      <a:pPr indent="0" marL="0">
                        <a:buNone/>
                      </a:pPr>
                      <a:r>
                        <a:rPr lang="en-US" sz="950" dirty="0">
                          <a:solidFill>
                            <a:srgbClr val="0F1E3D"/>
                          </a:solidFill>
                          <a:latin typeface="Calibri" pitchFamily="34" charset="0"/>
                          <a:ea typeface="Calibri" pitchFamily="34" charset="-122"/>
                          <a:cs typeface="Calibri" pitchFamily="34" charset="-120"/>
                        </a:rPr>
                        <a:t>التنمية </a:t>
                      </a:r>
                      <a:pPr indent="0" marL="0">
                        <a:buNone/>
                      </a:pPr>
                      <a:r>
                        <a:rPr lang="en-US" sz="950" dirty="0">
                          <a:solidFill>
                            <a:srgbClr val="0F1E3D"/>
                          </a:solidFill>
                          <a:latin typeface="Calibri" pitchFamily="34" charset="0"/>
                          <a:ea typeface="Calibri" pitchFamily="34" charset="-122"/>
                          <a:cs typeface="Calibri" pitchFamily="34" charset="-120"/>
                        </a:rPr>
                        <a:t>الاجتماعية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المنظم </a:t>
                      </a:r>
                      <a:pPr indent="0" marL="0">
                        <a:buNone/>
                      </a:pPr>
                      <a:r>
                        <a:rPr lang="en-US" sz="950" dirty="0">
                          <a:solidFill>
                            <a:srgbClr val="0F1E3D"/>
                          </a:solidFill>
                          <a:latin typeface="Calibri" pitchFamily="34" charset="0"/>
                          <a:ea typeface="Calibri" pitchFamily="34" charset="-122"/>
                          <a:cs typeface="Calibri" pitchFamily="34" charset="-120"/>
                        </a:rPr>
                        <a:t>الرسمي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حوكمة </a:t>
                      </a:r>
                      <a:pPr indent="0" marL="0">
                        <a:buNone/>
                      </a:pPr>
                      <a:r>
                        <a:rPr lang="en-US" sz="950" dirty="0">
                          <a:solidFill>
                            <a:srgbClr val="0F1E3D"/>
                          </a:solidFill>
                          <a:latin typeface="Calibri" pitchFamily="34" charset="0"/>
                          <a:ea typeface="Calibri" pitchFamily="34" charset="-122"/>
                          <a:cs typeface="Calibri" pitchFamily="34" charset="-120"/>
                        </a:rPr>
                        <a:t>وتأهيل</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تمكين </a:t>
                      </a:r>
                      <a:pPr indent="0" marL="0">
                        <a:buNone/>
                      </a:pPr>
                      <a:r>
                        <a:rPr lang="en-US" sz="950" dirty="0">
                          <a:solidFill>
                            <a:srgbClr val="0F1E3D"/>
                          </a:solidFill>
                          <a:latin typeface="Calibri" pitchFamily="34" charset="0"/>
                          <a:ea typeface="Calibri" pitchFamily="34" charset="-122"/>
                          <a:cs typeface="Calibri" pitchFamily="34" charset="-120"/>
                        </a:rPr>
                        <a:t>القطاع </a:t>
                      </a:r>
                      <a:pPr indent="0" marL="0">
                        <a:buNone/>
                      </a:pPr>
                      <a:r>
                        <a:rPr lang="en-US" sz="950" dirty="0">
                          <a:solidFill>
                            <a:srgbClr val="0F1E3D"/>
                          </a:solidFill>
                          <a:latin typeface="Calibri" pitchFamily="34" charset="0"/>
                          <a:ea typeface="Calibri" pitchFamily="34" charset="-122"/>
                          <a:cs typeface="Calibri" pitchFamily="34" charset="-120"/>
                        </a:rPr>
                        <a:t>غير </a:t>
                      </a:r>
                      <a:pPr indent="0" marL="0">
                        <a:buNone/>
                      </a:pPr>
                      <a:r>
                        <a:rPr lang="en-US" sz="950" dirty="0">
                          <a:solidFill>
                            <a:srgbClr val="0F1E3D"/>
                          </a:solidFill>
                          <a:latin typeface="Calibri" pitchFamily="34" charset="0"/>
                          <a:ea typeface="Calibri" pitchFamily="34" charset="-122"/>
                          <a:cs typeface="Calibri" pitchFamily="34" charset="-120"/>
                        </a:rPr>
                        <a:t>الربحي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info@ncnp.gov.sa</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920002340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جهة </a:t>
                      </a:r>
                      <a:pPr indent="0" marL="0">
                        <a:buNone/>
                      </a:pPr>
                      <a:r>
                        <a:rPr lang="en-US" sz="950" dirty="0">
                          <a:solidFill>
                            <a:srgbClr val="0F1E3D"/>
                          </a:solidFill>
                          <a:latin typeface="Calibri" pitchFamily="34" charset="0"/>
                          <a:ea typeface="Calibri" pitchFamily="34" charset="-122"/>
                          <a:cs typeface="Calibri" pitchFamily="34" charset="-120"/>
                        </a:rPr>
                        <a:t>حكومية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وزارة </a:t>
                      </a:r>
                      <a:pPr indent="0" marL="0">
                        <a:buNone/>
                      </a:pPr>
                      <a:r>
                        <a:rPr lang="en-US" sz="950" dirty="0">
                          <a:solidFill>
                            <a:srgbClr val="0F1E3D"/>
                          </a:solidFill>
                          <a:latin typeface="Calibri" pitchFamily="34" charset="0"/>
                          <a:ea typeface="Calibri" pitchFamily="34" charset="-122"/>
                          <a:cs typeface="Calibri" pitchFamily="34" charset="-120"/>
                        </a:rPr>
                        <a:t>الموارد </a:t>
                      </a:r>
                      <a:pPr indent="0" marL="0">
                        <a:buNone/>
                      </a:pPr>
                      <a:r>
                        <a:rPr lang="en-US" sz="950" dirty="0">
                          <a:solidFill>
                            <a:srgbClr val="0F1E3D"/>
                          </a:solidFill>
                          <a:latin typeface="Calibri" pitchFamily="34" charset="0"/>
                          <a:ea typeface="Calibri" pitchFamily="34" charset="-122"/>
                          <a:cs typeface="Calibri" pitchFamily="34" charset="-120"/>
                        </a:rPr>
                        <a:t>البشرية </a:t>
                      </a:r>
                      <a:pPr indent="0" marL="0">
                        <a:buNone/>
                      </a:pPr>
                      <a:r>
                        <a:rPr lang="en-US" sz="950" dirty="0">
                          <a:solidFill>
                            <a:srgbClr val="0F1E3D"/>
                          </a:solidFill>
                          <a:latin typeface="Calibri" pitchFamily="34" charset="0"/>
                          <a:ea typeface="Calibri" pitchFamily="34" charset="-122"/>
                          <a:cs typeface="Calibri" pitchFamily="34" charset="-120"/>
                        </a:rPr>
                        <a:t>- </a:t>
                      </a:r>
                      <a:pPr indent="0" marL="0">
                        <a:buNone/>
                      </a:pPr>
                      <a:r>
                        <a:rPr lang="en-US" sz="950" dirty="0">
                          <a:solidFill>
                            <a:srgbClr val="0F1E3D"/>
                          </a:solidFill>
                          <a:latin typeface="Calibri" pitchFamily="34" charset="0"/>
                          <a:ea typeface="Calibri" pitchFamily="34" charset="-122"/>
                          <a:cs typeface="Calibri" pitchFamily="34" charset="-120"/>
                        </a:rPr>
                        <a:t>المركز </a:t>
                      </a:r>
                      <a:pPr indent="0" marL="0">
                        <a:buNone/>
                      </a:pPr>
                      <a:r>
                        <a:rPr lang="en-US" sz="950" dirty="0">
                          <a:solidFill>
                            <a:srgbClr val="0F1E3D"/>
                          </a:solidFill>
                          <a:latin typeface="Calibri" pitchFamily="34" charset="0"/>
                          <a:ea typeface="Calibri" pitchFamily="34" charset="-122"/>
                          <a:cs typeface="Calibri" pitchFamily="34" charset="-120"/>
                        </a:rPr>
                        <a:t>الوطني </a:t>
                      </a:r>
                      <a:pPr indent="0" marL="0">
                        <a:buNone/>
                      </a:pPr>
                      <a:r>
                        <a:rPr lang="en-US" sz="950" dirty="0">
                          <a:solidFill>
                            <a:srgbClr val="0F1E3D"/>
                          </a:solidFill>
                          <a:latin typeface="Calibri" pitchFamily="34" charset="0"/>
                          <a:ea typeface="Calibri" pitchFamily="34" charset="-122"/>
                          <a:cs typeface="Calibri" pitchFamily="34" charset="-120"/>
                        </a:rPr>
                        <a:t>للقطاع </a:t>
                      </a:r>
                      <a:pPr indent="0" marL="0">
                        <a:buNone/>
                      </a:pPr>
                      <a:r>
                        <a:rPr lang="en-US" sz="950" dirty="0">
                          <a:solidFill>
                            <a:srgbClr val="0F1E3D"/>
                          </a:solidFill>
                          <a:latin typeface="Calibri" pitchFamily="34" charset="0"/>
                          <a:ea typeface="Calibri" pitchFamily="34" charset="-122"/>
                          <a:cs typeface="Calibri" pitchFamily="34" charset="-120"/>
                        </a:rPr>
                        <a:t>غير </a:t>
                      </a:r>
                      <a:pPr indent="0" marL="0">
                        <a:buNone/>
                      </a:pPr>
                      <a:r>
                        <a:rPr lang="en-US" sz="950" dirty="0">
                          <a:solidFill>
                            <a:srgbClr val="0F1E3D"/>
                          </a:solidFill>
                          <a:latin typeface="Calibri" pitchFamily="34" charset="0"/>
                          <a:ea typeface="Calibri" pitchFamily="34" charset="-122"/>
                          <a:cs typeface="Calibri" pitchFamily="34" charset="-120"/>
                        </a:rPr>
                        <a:t>الربحي</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49</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الذراع </a:t>
                      </a:r>
                      <a:pPr indent="0" marL="0">
                        <a:buNone/>
                      </a:pPr>
                      <a:r>
                        <a:rPr lang="en-US" sz="950" dirty="0">
                          <a:solidFill>
                            <a:srgbClr val="0F1E3D"/>
                          </a:solidFill>
                          <a:latin typeface="Calibri" pitchFamily="34" charset="0"/>
                          <a:ea typeface="Calibri" pitchFamily="34" charset="-122"/>
                          <a:cs typeface="Calibri" pitchFamily="34" charset="-120"/>
                        </a:rPr>
                        <a:t>الإنسانية </a:t>
                      </a:r>
                      <a:pPr indent="0" marL="0">
                        <a:buNone/>
                      </a:pPr>
                      <a:r>
                        <a:rPr lang="en-US" sz="950" dirty="0">
                          <a:solidFill>
                            <a:srgbClr val="0F1E3D"/>
                          </a:solidFill>
                          <a:latin typeface="Calibri" pitchFamily="34" charset="0"/>
                          <a:ea typeface="Calibri" pitchFamily="34" charset="-122"/>
                          <a:cs typeface="Calibri" pitchFamily="34" charset="-120"/>
                        </a:rPr>
                        <a:t>الرسمية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شراكات </a:t>
                      </a:r>
                      <a:pPr indent="0" marL="0">
                        <a:buNone/>
                      </a:pPr>
                      <a:r>
                        <a:rPr lang="en-US" sz="950" dirty="0">
                          <a:solidFill>
                            <a:srgbClr val="0F1E3D"/>
                          </a:solidFill>
                          <a:latin typeface="Calibri" pitchFamily="34" charset="0"/>
                          <a:ea typeface="Calibri" pitchFamily="34" charset="-122"/>
                          <a:cs typeface="Calibri" pitchFamily="34" charset="-120"/>
                        </a:rPr>
                        <a:t>إغاثية </a:t>
                      </a:r>
                      <a:pPr indent="0" marL="0">
                        <a:buNone/>
                      </a:pPr>
                      <a:r>
                        <a:rPr lang="en-US" sz="950" dirty="0">
                          <a:solidFill>
                            <a:srgbClr val="0F1E3D"/>
                          </a:solidFill>
                          <a:latin typeface="Calibri" pitchFamily="34" charset="0"/>
                          <a:ea typeface="Calibri" pitchFamily="34" charset="-122"/>
                          <a:cs typeface="Calibri" pitchFamily="34" charset="-120"/>
                        </a:rPr>
                        <a:t>كبرى</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الإغاثة، </a:t>
                      </a:r>
                      <a:pPr indent="0" marL="0">
                        <a:buNone/>
                      </a:pPr>
                      <a:r>
                        <a:rPr lang="en-US" sz="950" dirty="0">
                          <a:solidFill>
                            <a:srgbClr val="0F1E3D"/>
                          </a:solidFill>
                          <a:latin typeface="Calibri" pitchFamily="34" charset="0"/>
                          <a:ea typeface="Calibri" pitchFamily="34" charset="-122"/>
                          <a:cs typeface="Calibri" pitchFamily="34" charset="-120"/>
                        </a:rPr>
                        <a:t>التنمية </a:t>
                      </a:r>
                      <a:pPr indent="0" marL="0">
                        <a:buNone/>
                      </a:pPr>
                      <a:r>
                        <a:rPr lang="en-US" sz="950" dirty="0">
                          <a:solidFill>
                            <a:srgbClr val="0F1E3D"/>
                          </a:solidFill>
                          <a:latin typeface="Calibri" pitchFamily="34" charset="0"/>
                          <a:ea typeface="Calibri" pitchFamily="34" charset="-122"/>
                          <a:cs typeface="Calibri" pitchFamily="34" charset="-120"/>
                        </a:rPr>
                        <a:t>المستدامة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partners@ksrelief.org</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011-2929000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إدارة </a:t>
                      </a:r>
                      <a:pPr indent="0" marL="0">
                        <a:buNone/>
                      </a:pPr>
                      <a:r>
                        <a:rPr lang="en-US" sz="950" dirty="0">
                          <a:solidFill>
                            <a:srgbClr val="0F1E3D"/>
                          </a:solidFill>
                          <a:latin typeface="Calibri" pitchFamily="34" charset="0"/>
                          <a:ea typeface="Calibri" pitchFamily="34" charset="-122"/>
                          <a:cs typeface="Calibri" pitchFamily="34" charset="-120"/>
                        </a:rPr>
                        <a:t>الشراكات</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الرياض</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جهة </a:t>
                      </a:r>
                      <a:pPr indent="0" marL="0">
                        <a:buNone/>
                      </a:pPr>
                      <a:r>
                        <a:rPr lang="en-US" sz="950" dirty="0">
                          <a:solidFill>
                            <a:srgbClr val="0F1E3D"/>
                          </a:solidFill>
                          <a:latin typeface="Calibri" pitchFamily="34" charset="0"/>
                          <a:ea typeface="Calibri" pitchFamily="34" charset="-122"/>
                          <a:cs typeface="Calibri" pitchFamily="34" charset="-120"/>
                        </a:rPr>
                        <a:t>وطنية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مركز </a:t>
                      </a:r>
                      <a:pPr indent="0" marL="0">
                        <a:buNone/>
                      </a:pPr>
                      <a:r>
                        <a:rPr lang="en-US" sz="950" dirty="0">
                          <a:solidFill>
                            <a:srgbClr val="0F1E3D"/>
                          </a:solidFill>
                          <a:latin typeface="Calibri" pitchFamily="34" charset="0"/>
                          <a:ea typeface="Calibri" pitchFamily="34" charset="-122"/>
                          <a:cs typeface="Calibri" pitchFamily="34" charset="-120"/>
                        </a:rPr>
                        <a:t>الملك </a:t>
                      </a:r>
                      <a:pPr indent="0" marL="0">
                        <a:buNone/>
                      </a:pPr>
                      <a:r>
                        <a:rPr lang="en-US" sz="950" dirty="0">
                          <a:solidFill>
                            <a:srgbClr val="0F1E3D"/>
                          </a:solidFill>
                          <a:latin typeface="Calibri" pitchFamily="34" charset="0"/>
                          <a:ea typeface="Calibri" pitchFamily="34" charset="-122"/>
                          <a:cs typeface="Calibri" pitchFamily="34" charset="-120"/>
                        </a:rPr>
                        <a:t>سلمان </a:t>
                      </a:r>
                      <a:pPr indent="0" marL="0">
                        <a:buNone/>
                      </a:pPr>
                      <a:r>
                        <a:rPr lang="en-US" sz="950" dirty="0">
                          <a:solidFill>
                            <a:srgbClr val="0F1E3D"/>
                          </a:solidFill>
                          <a:latin typeface="Calibri" pitchFamily="34" charset="0"/>
                          <a:ea typeface="Calibri" pitchFamily="34" charset="-122"/>
                          <a:cs typeface="Calibri" pitchFamily="34" charset="-120"/>
                        </a:rPr>
                        <a:t>للإغاثة</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F1E3D"/>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قائمة 50 جهة سعودية حقيقية للاستقطاب</dc:title>
  <dc:subject>PptxGenJS Presentation</dc:subject>
  <dc:creator>PptxGenJS</dc:creator>
  <cp:lastModifiedBy>PptxGenJS</cp:lastModifiedBy>
  <cp:revision>1</cp:revision>
  <dcterms:created xsi:type="dcterms:W3CDTF">2026-04-22T16:51:39Z</dcterms:created>
  <dcterms:modified xsi:type="dcterms:W3CDTF">2026-04-22T16:51:39Z</dcterms:modified>
</cp:coreProperties>
</file>